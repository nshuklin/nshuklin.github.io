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2FC0293-95E2-40BD-8751-FBA7E612B6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C7F611-F243-4E18-A3BC-3D6819A818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62A0F-85F9-4381-95C0-4390DA7B08EA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01B1D6-8D6B-4F97-859D-B6E212E4479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32BD0E-787E-43AB-9FC4-E3521B052D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82801-F18E-4BAB-8C17-BAE23CBC41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532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3C4B9-84A9-4CD0-A13B-4317FB99B6C9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FC369-1B97-4F9C-A0AC-5B07C9F06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406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Нативная разработка — это как сшить костюм на заказ: идеально сидит, но стоит дорого и шьётся дольше.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Натив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жив и здоров там, где важны последние проценты производительности.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Кроссплатформа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не убивает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натив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— она занимает нишу, где скорость доставки фич дороже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70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Гибридное приложение — это матрёшка: снаружи нативное приложение из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стора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внутри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WebView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, а в нём — ваш любимый HTML. Пользователь скачивает «настоящее» приложение, а вы пишете сайт. Красиво? Красиво. Но у матрёшки, как выяснится, есть ограничения.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466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WebView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— это браузер, которому отрезали адресную строку и поселили внутри вашего приложения. Всё, что вы знаете про браузерный JS, там работает. Но мост к нативным возможностям — камера, биометрия — организован через плагины, и это нужно проектировать аккуратно.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622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76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Здесь фокус другой: мы больше не показываем пользователю веб-страницу.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React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Native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дёргает за ниточки настоящих нативных компонентов, 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Flutter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вообще рисует каждый пиксель сам. Плата за это — дополнительный слой абстракции между вами и платформой.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254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Почему именно JavaScript? Он уже установлен на каждом устройстве планеты вместе с браузером. Node.js вынес его за пределы браузера,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TypeScript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прикрутил типизацию. Получился уникальный случай: один язык для клиента, сервера и инструментов — почти эсперанто, только настоящий.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FC369-1B97-4F9C-A0AC-5B07C9F064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33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2B40D-51E4-45A3-A9E0-AE831B81B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3FB780-B953-4551-AC08-D469C0C76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6C2B90-91C2-4687-9582-84D4EE46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78E3-D0DE-472F-BF2B-37ABE727D5B1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3D29F7-D7ED-4F9A-BFAE-F1CE624D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AA207C-2050-456F-9528-8E196AFC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40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5BDB8-0BE0-442F-8F15-C3B89E17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355644-310A-4249-BBC6-140CB8A1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7BFF07-D538-4B86-B5BF-43F1D151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3E76-CBCC-4121-B893-4751915B9CDC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978F1A-E6DC-41C5-8CC7-6CA9AB48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E4980A-BA71-4896-A598-565C0154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67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6A837-B430-46B8-9DF1-40CD24A9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89D3AA-5C36-48B3-B1AF-D05E7BED8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0A0345-901D-48CB-A324-DF537A93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B6F2D-86CE-4F67-9B3B-3908CAA47F4D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8D3C2-10A1-479D-9639-62E3D792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29623B-4787-4142-8F1D-F2F0B51C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49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E8B96-8AA0-4A6B-B485-A90F525C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66CCC4-5CCB-48DA-B88D-C9989E789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26D582-68F3-4E07-9E97-22D054EBB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C721E-6FA9-467A-9A51-660A7C3B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8FC9-3B85-4A0C-88C8-77387FBD3B23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9FB4EE-2A17-428F-B127-65EF1003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1B4B19-75D6-446E-9E30-6B1C3251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77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66A8B-DFDC-4B43-9632-B0AC8394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8557D8-F8B2-4F47-AC62-AD046A1CB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D0F959-83F8-4C71-89C7-B2342D60B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8DECA0-9ACD-43E9-8F70-E586B6B5C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6BE50E-9E21-4D31-93B1-87F421B0F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EB2B10-4065-4DFB-9D4B-7DA72188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DBE8-B118-43E7-BF36-07FFE4B5EB73}" type="datetime1">
              <a:rPr lang="ru-RU" smtClean="0"/>
              <a:t>31.08.2026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22EA92-E4AD-4857-8BB4-1B0C3297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FCCC55-B8E8-423D-8563-30E35474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75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E6963-A67E-4F7F-B753-A5B0869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096D01-6062-4A11-B54B-14647781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1971-DC53-4FC9-BC31-097EE3F2DF20}" type="datetime1">
              <a:rPr lang="ru-RU" smtClean="0"/>
              <a:t>31.08.2026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B6CFF4-210F-4168-B163-3A6E08E7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C87E8B-D9CF-40D7-9F67-D13CFD47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799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421810-9F83-4DA3-A653-487C0F92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68ED-FEBD-4DD8-B389-A481594EBD65}" type="datetime1">
              <a:rPr lang="ru-RU" smtClean="0"/>
              <a:t>31.08.2026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6D54BC-86C5-4A6A-B018-432FFD38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5D61C2-479A-45A9-A4E4-D79EAE65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95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7A285-A23F-49B3-8598-9F864751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CC2CEA-19F3-4977-80F8-EF2CA7FA7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C9D0A0-EF1E-4354-9AFB-C382C4D5C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5D4E39-E853-47E0-8884-00E58028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FCF7-2B5C-4968-9404-4FEF6A76D925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A385D9-2521-4EBF-8334-BAD60399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2F92F8-5677-4434-99E3-AF470A7F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84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1F604-20AF-455C-889E-255CF126D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761094-9106-445E-8960-97DACB481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BC11AC-5E61-4885-B289-C6ECE7376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B64F5D-78AC-4DEF-B51A-8B7E2631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9A84-FCBD-49F2-8052-165A80F47309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D47818-AFB2-430A-9F5B-814945F3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452BB3-A50D-4702-BE18-D78C6ABE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35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906A9-E345-4936-BE2C-91C49C37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5C6F8B-876C-4F2B-9C54-E3D1E51B5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3C7765-2ECA-43DB-9160-297A4250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6B3-F884-4435-8A9F-2B4FC3C4184C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D087DF-A3DB-4BD4-A86D-78DCC154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DDE280-D0B8-4591-BBFB-2165BA1F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50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7D65087-F9B2-470D-A553-3529345D6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7C620F-A933-4856-B7D8-3DA57EC06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9A047F-F714-4EDE-AAA7-CC4A13E7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ED90-ECF5-4E1A-A38E-D7F5E2CDC42B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52E84B-634B-41BF-9D83-B07BB976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0D0E21-89F5-485C-942E-C05FE5A9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09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8EEAD-DE56-4B9A-87B6-DE9ABD30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8C767B-10C2-402B-AD67-7457FF50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BB64E-A920-4D16-A796-F66D8A18E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4909-2528-4F55-ACD7-76E8FD159910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EB927B-D214-43DF-BEBF-05714DAE3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060305-9032-4C6E-945D-9DE12F752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5DDB6-29A9-4F54-9C6E-7D33B6F18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15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ka.guide/" TargetMode="External"/><Relationship Id="rId2" Type="http://schemas.openxmlformats.org/officeDocument/2006/relationships/hyperlink" Target="https://nshuklin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9B63B-9C0F-4900-AEB3-FF1B6A5B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Разработка ПО для мобильных ОС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D80340-AE29-4F54-AC54-BAA9B406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EC863-0B3A-41FC-A295-A21AEB908FC9}"/>
              </a:ext>
            </a:extLst>
          </p:cNvPr>
          <p:cNvSpPr txBox="1"/>
          <p:nvPr/>
        </p:nvSpPr>
        <p:spPr>
          <a:xfrm>
            <a:off x="4365247" y="3795386"/>
            <a:ext cx="346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1. 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3137937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4AB1A2-AB03-43B7-AF8B-7CA653FF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C228D9-6828-43C1-A6B0-3F891E7FF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936" y="87681"/>
            <a:ext cx="6633793" cy="6633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451AB-20AC-4ED8-B967-BB36525A733C}"/>
              </a:ext>
            </a:extLst>
          </p:cNvPr>
          <p:cNvSpPr txBox="1"/>
          <p:nvPr/>
        </p:nvSpPr>
        <p:spPr>
          <a:xfrm>
            <a:off x="7084729" y="2044005"/>
            <a:ext cx="465633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Шуклин Никита Алексеевич</a:t>
            </a:r>
          </a:p>
          <a:p>
            <a:r>
              <a:rPr lang="ru-RU" dirty="0"/>
              <a:t>Ведущий инженер-программист, руководитель направления веб-разработки</a:t>
            </a:r>
          </a:p>
          <a:p>
            <a:r>
              <a:rPr lang="ru-RU" dirty="0"/>
              <a:t>ООО «</a:t>
            </a:r>
            <a:r>
              <a:rPr lang="ru-RU" dirty="0" err="1"/>
              <a:t>СофтЛаб</a:t>
            </a:r>
            <a:r>
              <a:rPr lang="ru-RU" dirty="0"/>
              <a:t>-НСК»</a:t>
            </a:r>
          </a:p>
          <a:p>
            <a:endParaRPr lang="ru-RU" dirty="0"/>
          </a:p>
          <a:p>
            <a:r>
              <a:rPr lang="en-US" sz="2800" dirty="0"/>
              <a:t>shuklin@sl.iae.nsk.su</a:t>
            </a:r>
          </a:p>
          <a:p>
            <a:r>
              <a:rPr lang="en-US" sz="2800" dirty="0" err="1"/>
              <a:t>tg</a:t>
            </a:r>
            <a:r>
              <a:rPr lang="en-US" sz="2800" dirty="0"/>
              <a:t>/</a:t>
            </a:r>
            <a:r>
              <a:rPr lang="en-US" sz="2800" dirty="0" err="1"/>
              <a:t>vk</a:t>
            </a:r>
            <a:r>
              <a:rPr lang="en-US" sz="2800" dirty="0"/>
              <a:t>: @nshuklin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537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FFF47-D3EB-4996-9D88-CBE73914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семинаров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078D3D-E303-4D5B-8CA2-CFFA43D62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Лекция + практика по аннуитету</a:t>
            </a:r>
          </a:p>
          <a:p>
            <a:r>
              <a:rPr lang="ru-RU" dirty="0"/>
              <a:t>Поговорим про: языки программирования, архитектуру, инфраструктуру, сетевой </a:t>
            </a:r>
            <a:r>
              <a:rPr lang="en-US" dirty="0"/>
              <a:t>API, </a:t>
            </a:r>
            <a:r>
              <a:rPr lang="ru-RU" dirty="0"/>
              <a:t>тестирование, деплой</a:t>
            </a:r>
          </a:p>
          <a:p>
            <a:r>
              <a:rPr lang="ru-RU" dirty="0"/>
              <a:t>По итогу напишем собственные приложения и запустим на </a:t>
            </a:r>
            <a:r>
              <a:rPr lang="ru-RU"/>
              <a:t>своих устройствах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0E5FD5-5944-4FC8-9B99-0A44EC64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01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CB3E9-79E0-454B-B167-2A0FD82F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немного подумаем: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04876D-3F2C-4D86-A100-9750C060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мобильная ОС?</a:t>
            </a:r>
          </a:p>
          <a:p>
            <a:r>
              <a:rPr lang="ru-RU" dirty="0"/>
              <a:t>На каких устройствах может работать мобильная ОС?</a:t>
            </a:r>
          </a:p>
          <a:p>
            <a:r>
              <a:rPr lang="ru-RU" dirty="0"/>
              <a:t>Ноутбук – это мобильное устройство?</a:t>
            </a:r>
          </a:p>
          <a:p>
            <a:r>
              <a:rPr lang="en-US" dirty="0"/>
              <a:t>ARM-</a:t>
            </a:r>
            <a:r>
              <a:rPr lang="ru-RU" dirty="0"/>
              <a:t>ПК – это мобильное устройство?</a:t>
            </a:r>
          </a:p>
          <a:p>
            <a:r>
              <a:rPr lang="ru-RU" dirty="0"/>
              <a:t>Что делать, когда появляется новая мобильная ОС?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516522-C019-4BF7-99D1-7493F7A0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54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F50ED-54CF-459C-A7A0-005BE220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одно ПО, много платформ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29DF7B-2F6D-40D2-92FB-7337FA847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7706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Тезисно:</a:t>
            </a:r>
          </a:p>
          <a:p>
            <a:r>
              <a:rPr lang="ru-RU" dirty="0"/>
              <a:t>Сколько устройств – столько и кодовой базы</a:t>
            </a:r>
          </a:p>
          <a:p>
            <a:r>
              <a:rPr lang="ru-RU" dirty="0"/>
              <a:t>Нативная разработка: </a:t>
            </a:r>
            <a:r>
              <a:rPr lang="en-US" dirty="0"/>
              <a:t>Swift + Kotlin + … + = N </a:t>
            </a:r>
            <a:r>
              <a:rPr lang="ru-RU" dirty="0"/>
              <a:t>команд разработчиков</a:t>
            </a:r>
          </a:p>
          <a:p>
            <a:r>
              <a:rPr lang="ru-RU" dirty="0"/>
              <a:t>Синхронность имплементации фич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A976281-B139-40C3-A38D-D0CA51F57375}"/>
              </a:ext>
            </a:extLst>
          </p:cNvPr>
          <p:cNvSpPr txBox="1">
            <a:spLocks/>
          </p:cNvSpPr>
          <p:nvPr/>
        </p:nvSpPr>
        <p:spPr>
          <a:xfrm>
            <a:off x="838200" y="4302690"/>
            <a:ext cx="10515600" cy="2477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 можно это как-то победить?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err="1"/>
              <a:t>Кроссплатформа</a:t>
            </a:r>
            <a:r>
              <a:rPr lang="ru-RU" dirty="0"/>
              <a:t> , как компромисс, но не серебренная пуля, к сожалению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04366C-3AB7-457C-89FB-98E6200E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30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6716F-71A6-4C19-A4DF-4761058C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Четыре поколения подходов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64F312-2DE7-4B6E-BB3C-98A7F87EF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Native: </a:t>
            </a:r>
            <a:r>
              <a:rPr lang="ru-RU" dirty="0"/>
              <a:t>свой язык и </a:t>
            </a:r>
            <a:r>
              <a:rPr lang="en-US" dirty="0"/>
              <a:t>UI </a:t>
            </a:r>
            <a:r>
              <a:rPr lang="ru-RU" dirty="0"/>
              <a:t>на каждую платформу</a:t>
            </a:r>
            <a:endParaRPr lang="en-US" dirty="0"/>
          </a:p>
          <a:p>
            <a:r>
              <a:rPr lang="en-US" dirty="0"/>
              <a:t>Progressive web apps:</a:t>
            </a:r>
            <a:r>
              <a:rPr lang="ru-RU" dirty="0"/>
              <a:t> наследник </a:t>
            </a:r>
            <a:r>
              <a:rPr lang="en-US" dirty="0"/>
              <a:t>HTML apps </a:t>
            </a:r>
            <a:r>
              <a:rPr lang="ru-RU" dirty="0"/>
              <a:t>от </a:t>
            </a:r>
            <a:r>
              <a:rPr lang="en-US" dirty="0"/>
              <a:t>Microsoft, </a:t>
            </a:r>
            <a:r>
              <a:rPr lang="ru-RU" dirty="0"/>
              <a:t>далее </a:t>
            </a:r>
            <a:r>
              <a:rPr lang="en-US" dirty="0"/>
              <a:t>Apple </a:t>
            </a:r>
            <a:r>
              <a:rPr lang="ru-RU" dirty="0"/>
              <a:t>в первой версии </a:t>
            </a:r>
            <a:r>
              <a:rPr lang="en-US" dirty="0"/>
              <a:t>iPhone</a:t>
            </a:r>
            <a:endParaRPr lang="ru-RU" dirty="0"/>
          </a:p>
          <a:p>
            <a:r>
              <a:rPr lang="en-US" dirty="0"/>
              <a:t>Hybrid: </a:t>
            </a:r>
            <a:r>
              <a:rPr lang="ru-RU" dirty="0"/>
              <a:t>веб-страница внутри нативной оболочки (</a:t>
            </a:r>
            <a:r>
              <a:rPr lang="en-US" dirty="0"/>
              <a:t>Cordova, Ionic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Cross-compiled: </a:t>
            </a:r>
            <a:r>
              <a:rPr lang="ru-RU" dirty="0"/>
              <a:t>один язык -</a:t>
            </a:r>
            <a:r>
              <a:rPr lang="en-US" dirty="0"/>
              <a:t>&gt; </a:t>
            </a:r>
            <a:r>
              <a:rPr lang="ru-RU" dirty="0"/>
              <a:t>множество </a:t>
            </a:r>
            <a:r>
              <a:rPr lang="ru-RU" dirty="0" err="1"/>
              <a:t>таргетов</a:t>
            </a:r>
            <a:r>
              <a:rPr lang="ru-RU" dirty="0"/>
              <a:t> (</a:t>
            </a:r>
            <a:r>
              <a:rPr lang="en-US" dirty="0"/>
              <a:t>React Native, Flutter</a:t>
            </a:r>
            <a:r>
              <a:rPr lang="ru-RU" dirty="0"/>
              <a:t>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1000F0-A384-47B3-9509-B49CDEE6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11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8532F-8058-4888-BC93-F53DBE68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Нативный подход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0E62B-FE15-4BEA-8601-547EFF39883E}"/>
              </a:ext>
            </a:extLst>
          </p:cNvPr>
          <p:cNvSpPr txBox="1"/>
          <p:nvPr/>
        </p:nvSpPr>
        <p:spPr>
          <a:xfrm>
            <a:off x="838200" y="1690687"/>
            <a:ext cx="10515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Swift/</a:t>
            </a:r>
            <a:r>
              <a:rPr lang="en-US" sz="2800" dirty="0" err="1"/>
              <a:t>UIKit</a:t>
            </a:r>
            <a:r>
              <a:rPr lang="en-US" sz="2800" dirty="0"/>
              <a:t> </a:t>
            </a:r>
            <a:r>
              <a:rPr lang="ru-RU" sz="2800" dirty="0"/>
              <a:t>на </a:t>
            </a:r>
            <a:r>
              <a:rPr lang="en-US" sz="2800" dirty="0"/>
              <a:t>iOS, Kotlin/Compose </a:t>
            </a:r>
            <a:r>
              <a:rPr lang="ru-RU" sz="2800" dirty="0"/>
              <a:t>для </a:t>
            </a:r>
            <a:r>
              <a:rPr lang="en-US" sz="2800" dirty="0"/>
              <a:t>Android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Полная производительность и всё </a:t>
            </a:r>
            <a:r>
              <a:rPr lang="en-US" sz="2800" dirty="0"/>
              <a:t>API </a:t>
            </a:r>
            <a:r>
              <a:rPr lang="ru-RU" sz="2800" dirty="0"/>
              <a:t>устройств и 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Отдельная команда и кодовая база для платформ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r>
              <a:rPr lang="ru-RU" sz="2800" dirty="0"/>
              <a:t>Жив и процветает: игры, системные утилиты, тяжелые клиенты</a:t>
            </a:r>
          </a:p>
          <a:p>
            <a:endParaRPr lang="ru-RU" sz="2800" dirty="0"/>
          </a:p>
          <a:p>
            <a:r>
              <a:rPr lang="ru-RU" sz="2800" dirty="0"/>
              <a:t>Самый дорогой и долгий подход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6A22D1-30DE-46EB-936E-24DDA648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6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CB3D7-91D7-48C4-8B0A-201056BE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PWA – progressive web apps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122CBC-7841-4DE2-809C-1285E322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WWDC 2007, </a:t>
            </a:r>
            <a:r>
              <a:rPr lang="ru-RU" dirty="0"/>
              <a:t>Стив Джобс</a:t>
            </a:r>
            <a:r>
              <a:rPr lang="en-US" dirty="0"/>
              <a:t>: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“We’ve come up with a very sweet solution”,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(перевод англ.) </a:t>
            </a:r>
            <a:r>
              <a:rPr lang="en-US" dirty="0"/>
              <a:t>“</a:t>
            </a:r>
            <a:r>
              <a:rPr lang="ru-RU" dirty="0"/>
              <a:t>Мы нашли очень сладкое</a:t>
            </a:r>
            <a:r>
              <a:rPr lang="en-US" dirty="0"/>
              <a:t>/</a:t>
            </a:r>
            <a:r>
              <a:rPr lang="ru-RU" dirty="0"/>
              <a:t>хорошее решение</a:t>
            </a:r>
            <a:r>
              <a:rPr lang="en-US" dirty="0"/>
              <a:t>”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 2015 </a:t>
            </a:r>
            <a:r>
              <a:rPr lang="en-US" dirty="0"/>
              <a:t>Google Chrome </a:t>
            </a:r>
            <a:r>
              <a:rPr lang="ru-RU" dirty="0"/>
              <a:t>поддержал </a:t>
            </a:r>
            <a:r>
              <a:rPr lang="en-US" dirty="0"/>
              <a:t>Service Workers </a:t>
            </a:r>
            <a:r>
              <a:rPr lang="ru-RU" dirty="0"/>
              <a:t>и </a:t>
            </a:r>
            <a:r>
              <a:rPr lang="en-US" dirty="0"/>
              <a:t>Web App Manifest.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Сейчас поддерживается всеми основными платформами, с 2025 и Аврора ОС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F9DFE8-EEB9-449A-8B6E-03DF46FA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17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756F94C4-9F42-4F06-9E3B-4E74A50C5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5" y="491604"/>
            <a:ext cx="10578590" cy="55334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714A5A-7D24-4EAA-80C2-98FC44BD21C6}"/>
              </a:ext>
            </a:extLst>
          </p:cNvPr>
          <p:cNvSpPr txBox="1"/>
          <p:nvPr/>
        </p:nvSpPr>
        <p:spPr>
          <a:xfrm>
            <a:off x="4553211" y="6025020"/>
            <a:ext cx="70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31.08.2026, https://habr.com/ru/companies/rostelecom/articles/943456/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840853A-CC15-4244-9959-0301C12C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77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FF7A3-F2DB-4040-AD30-8B4ED450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Гибридный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7A8A0C-DD76-40C3-89A8-A6BBDDCD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Нативная оболочка +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WebView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на весь экран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Код — обычный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HTML/CSS/JS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Доступ к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API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ОС — через плагины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Примеры: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Cordova, Ionic;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наследник идей —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Capacitor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E6443E-DDA9-4D90-9423-2C36E58B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787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A00E7-A9ED-4D9E-BB42-E6F51630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WebView </a:t>
            </a:r>
            <a:r>
              <a:rPr lang="ru-RU" dirty="0"/>
              <a:t>– браузер без адресной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07F593-AEFB-4F04-AE75-71973E82E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9548" cy="4351338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Android</a:t>
            </a:r>
            <a:r>
              <a:rPr lang="en-US" dirty="0">
                <a:solidFill>
                  <a:srgbClr val="333333"/>
                </a:solidFill>
                <a:latin typeface="Helvetica Neue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enlo"/>
              </a:rPr>
              <a:t>android.webkit.WebView</a:t>
            </a:r>
            <a:r>
              <a:rPr lang="en-US" dirty="0">
                <a:solidFill>
                  <a:srgbClr val="000000"/>
                </a:solidFill>
                <a:latin typeface="Menlo"/>
              </a:rPr>
              <a:t>; iOS: </a:t>
            </a:r>
            <a:r>
              <a:rPr lang="en-US" dirty="0" err="1">
                <a:solidFill>
                  <a:srgbClr val="000000"/>
                </a:solidFill>
                <a:latin typeface="Menlo"/>
              </a:rPr>
              <a:t>WKWebView</a:t>
            </a:r>
            <a:r>
              <a:rPr lang="en-US" dirty="0">
                <a:solidFill>
                  <a:srgbClr val="000000"/>
                </a:solidFill>
                <a:latin typeface="Menlo"/>
              </a:rPr>
              <a:t> </a:t>
            </a:r>
            <a:r>
              <a:rPr lang="ru-RU" dirty="0">
                <a:solidFill>
                  <a:srgbClr val="000000"/>
                </a:solidFill>
                <a:latin typeface="Menlo"/>
              </a:rPr>
              <a:t>и т.д.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Тот же движок, что в браузере, но внутри вашего приложения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JS-мост связывает веб-код с нативными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Ограничения: производительность, песочница, различия платформ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AEF57FB-C7D7-4544-85F9-DFD1B1DD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314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492E90-C273-453D-B9B6-AC2EE1F45F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9136063" cy="6858000"/>
          </a:xfrm>
          <a:prstGeom prst="rect">
            <a:avLst/>
          </a:prstGeom>
        </p:spPr>
      </p:pic>
      <p:pic>
        <p:nvPicPr>
          <p:cNvPr id="6" name="DDE4E7AF">
            <a:hlinkClick r:id="" action="ppaction://media"/>
            <a:extLst>
              <a:ext uri="{FF2B5EF4-FFF2-40B4-BE49-F238E27FC236}">
                <a16:creationId xmlns:a16="http://schemas.microsoft.com/office/drawing/2014/main" id="{193175CE-A3CD-40BE-BCA0-9D382EB0D0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136063" y="0"/>
            <a:ext cx="3055937" cy="6858000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E08021E-73D0-4EDE-882E-325D9CFA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89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B02B3-4E0F-4388-9B70-CA141C2E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Cross-compiled: </a:t>
            </a:r>
            <a:r>
              <a:rPr lang="ru-RU" sz="4000" dirty="0"/>
              <a:t>один язык – нативный 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2A976-70CA-4482-8C18-2627E7787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React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Native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JS/TS управляет нативными компонентами через мост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Flutter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Dart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+ собственный движок рендеринга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Skia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 Neue"/>
              </a:rPr>
              <a:t>Impeller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Пользователь видит не веб-страницу, а «настоящий» UI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Цена: промежуточный слой, который надо понимать при отладке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2B630E-AAD6-4249-8712-B9A0C62A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80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C1763-5295-468B-A066-8B61F04E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подходов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0DF2B1FF-DEE5-40B5-A407-E3340D9B9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70570"/>
              </p:ext>
            </p:extLst>
          </p:nvPr>
        </p:nvGraphicFramePr>
        <p:xfrm>
          <a:off x="838200" y="1825625"/>
          <a:ext cx="10515600" cy="340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411">
                  <a:extLst>
                    <a:ext uri="{9D8B030D-6E8A-4147-A177-3AD203B41FA5}">
                      <a16:colId xmlns:a16="http://schemas.microsoft.com/office/drawing/2014/main" val="2102516616"/>
                    </a:ext>
                  </a:extLst>
                </a:gridCol>
                <a:gridCol w="1862829">
                  <a:extLst>
                    <a:ext uri="{9D8B030D-6E8A-4147-A177-3AD203B41FA5}">
                      <a16:colId xmlns:a16="http://schemas.microsoft.com/office/drawing/2014/main" val="42239699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993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1101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38000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PWA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Cross-compiled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011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Нативные 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Веб-компоненты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Веб-компоненты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Нативные компоненты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8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Веб-версия из того же кода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8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Установка в магазинах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требуется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40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Оффлайн-режим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Worker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Веб-</a:t>
                      </a:r>
                      <a:r>
                        <a:rPr lang="en-US" dirty="0"/>
                        <a:t>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Свои решения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8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Порог входа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Выше среднего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04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Производительность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49377"/>
                  </a:ext>
                </a:extLst>
              </a:tr>
            </a:tbl>
          </a:graphicData>
        </a:graphic>
      </p:graphicFrame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D34367-D0EE-40F0-B1E3-9B4A322A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21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131AA-BD23-4E4B-95C0-850CFD7D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стека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54135-2E29-4D72-A855-427B23A0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Только нативный подход требует знать определённый ЯП</a:t>
            </a:r>
          </a:p>
          <a:p>
            <a:r>
              <a:rPr lang="ru-RU" dirty="0"/>
              <a:t>Все остальные подходы базируются на </a:t>
            </a:r>
            <a:r>
              <a:rPr lang="en-US" dirty="0"/>
              <a:t>ECMAScript</a:t>
            </a:r>
          </a:p>
          <a:p>
            <a:r>
              <a:rPr lang="en-US" dirty="0"/>
              <a:t>ECMAScript – </a:t>
            </a:r>
            <a:r>
              <a:rPr lang="ru-RU" dirty="0"/>
              <a:t>стандарт</a:t>
            </a:r>
            <a:r>
              <a:rPr lang="en-US" dirty="0"/>
              <a:t> </a:t>
            </a:r>
            <a:r>
              <a:rPr lang="ru-RU" dirty="0"/>
              <a:t>языка </a:t>
            </a:r>
            <a:r>
              <a:rPr lang="en-US" dirty="0"/>
              <a:t>JavaScript</a:t>
            </a:r>
            <a:r>
              <a:rPr lang="ru-RU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BECAD6-2FBF-440A-8247-136FF894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84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E06CE-E781-4676-937E-5765D35F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</a:t>
            </a:r>
            <a:r>
              <a:rPr lang="ru-RU" dirty="0"/>
              <a:t>как </a:t>
            </a:r>
            <a:r>
              <a:rPr lang="en-US" dirty="0"/>
              <a:t>lingua franca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10B998-3882-4872-8169-94B8E9E97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Единственный язык, который понимают все браузеры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Может исполняться как на клиенте, так и на сервере – </a:t>
            </a:r>
            <a:r>
              <a:rPr lang="en-US" dirty="0"/>
              <a:t>Node.js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npm</a:t>
            </a:r>
            <a:r>
              <a:rPr lang="en-US" dirty="0"/>
              <a:t> – node package manager</a:t>
            </a:r>
            <a:r>
              <a:rPr lang="ru-RU" dirty="0"/>
              <a:t>, единый пакетный менеджер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JSDoc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TypeScript </a:t>
            </a:r>
            <a:r>
              <a:rPr lang="ru-RU" dirty="0"/>
              <a:t>добавляют строгую типизацию для больших проектов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Нет реализации </a:t>
            </a:r>
            <a:r>
              <a:rPr lang="en-US" dirty="0"/>
              <a:t>JS </a:t>
            </a:r>
            <a:r>
              <a:rPr lang="ru-RU" dirty="0"/>
              <a:t>на </a:t>
            </a:r>
            <a:r>
              <a:rPr lang="en-US" dirty="0"/>
              <a:t>Python, </a:t>
            </a:r>
            <a:r>
              <a:rPr lang="ru-RU" dirty="0"/>
              <a:t>но есть реализация </a:t>
            </a:r>
            <a:r>
              <a:rPr lang="en-US" dirty="0"/>
              <a:t>Python </a:t>
            </a:r>
            <a:r>
              <a:rPr lang="ru-RU" dirty="0"/>
              <a:t>на </a:t>
            </a:r>
            <a:r>
              <a:rPr lang="en-US" dirty="0"/>
              <a:t>JS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53CAF2-D84C-40ED-99C0-E6E272AF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96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DCF3E-4795-445A-9846-804F0F9D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530DB-F45C-4181-AC84-5A3D4966C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https://nshuklin.github.io/</a:t>
            </a:r>
            <a:endParaRPr lang="en-US">
              <a:hlinkClick r:id="rId3"/>
            </a:endParaRPr>
          </a:p>
          <a:p>
            <a:r>
              <a:rPr lang="en-US" dirty="0">
                <a:hlinkClick r:id="rId3"/>
              </a:rPr>
              <a:t>https://doka.guide/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3A4747-6998-436A-A062-11F5825F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5DDB6-29A9-4F54-9C6E-7D33B6F18E4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945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858</Words>
  <Application>Microsoft Office PowerPoint</Application>
  <PresentationFormat>Широкоэкранный</PresentationFormat>
  <Paragraphs>138</Paragraphs>
  <Slides>17</Slides>
  <Notes>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Helvetica Neue</vt:lpstr>
      <vt:lpstr>Menlo</vt:lpstr>
      <vt:lpstr>Тема Office</vt:lpstr>
      <vt:lpstr>Разработка ПО для мобильных ОС</vt:lpstr>
      <vt:lpstr>Презентация PowerPoint</vt:lpstr>
      <vt:lpstr>План семинаров</vt:lpstr>
      <vt:lpstr>Давайте немного подумаем:</vt:lpstr>
      <vt:lpstr>Проблема: одно ПО, много платформ</vt:lpstr>
      <vt:lpstr>Четыре поколения подходов</vt:lpstr>
      <vt:lpstr>Нативный подход</vt:lpstr>
      <vt:lpstr>PWA – progressive web apps</vt:lpstr>
      <vt:lpstr>Презентация PowerPoint</vt:lpstr>
      <vt:lpstr>Гибридный подход</vt:lpstr>
      <vt:lpstr>WebView – браузер без адресной строки</vt:lpstr>
      <vt:lpstr>Презентация PowerPoint</vt:lpstr>
      <vt:lpstr>Cross-compiled: один язык – нативный результат</vt:lpstr>
      <vt:lpstr>Сравнение подходов</vt:lpstr>
      <vt:lpstr>Выбор стека технологий</vt:lpstr>
      <vt:lpstr>JavaScript как lingua franca</vt:lpstr>
      <vt:lpstr>Что почитать?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ПО для мобильных ОС</dc:title>
  <dc:creator>Nikita A. Shuklin</dc:creator>
  <cp:lastModifiedBy>Nikita A. Shuklin</cp:lastModifiedBy>
  <cp:revision>24</cp:revision>
  <dcterms:created xsi:type="dcterms:W3CDTF">2026-08-31T03:20:33Z</dcterms:created>
  <dcterms:modified xsi:type="dcterms:W3CDTF">2026-08-31T10:53:50Z</dcterms:modified>
</cp:coreProperties>
</file>