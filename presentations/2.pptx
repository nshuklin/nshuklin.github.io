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79" r:id="rId4"/>
    <p:sldId id="280" r:id="rId5"/>
    <p:sldId id="281" r:id="rId6"/>
    <p:sldId id="258" r:id="rId7"/>
    <p:sldId id="261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90" r:id="rId27"/>
    <p:sldId id="291" r:id="rId28"/>
    <p:sldId id="292" r:id="rId29"/>
    <p:sldId id="284" r:id="rId30"/>
    <p:sldId id="285" r:id="rId31"/>
    <p:sldId id="278" r:id="rId32"/>
    <p:sldId id="282" r:id="rId33"/>
    <p:sldId id="283" r:id="rId34"/>
    <p:sldId id="286" r:id="rId35"/>
    <p:sldId id="287" r:id="rId36"/>
    <p:sldId id="288" r:id="rId37"/>
    <p:sldId id="289" r:id="rId38"/>
    <p:sldId id="293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DB194-F589-4412-A98E-5C3875722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E621D-A285-43CE-A27F-7C64DC48DB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42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1FDA6-00E6-4A6F-99E8-2440D751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F645EB-F3E6-4242-8FD6-20582D336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35CD5-2368-48B7-8A92-8858EB8C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5F2B-0CEF-4175-BFC6-7F77DAB74A85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B68199-C339-438F-A396-89880B4F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FB0EC-BEB9-4579-BB29-F31A84BE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03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D7665-8475-4431-89C8-D5D2F3D0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772502-71C3-4758-AA28-C8C7DF228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5E5FFC-7913-4A95-8121-5001FC100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205B-C521-47BB-BFC1-DC622D33B7C1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22D31E-A33C-45ED-8005-AB516B69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B94EAE-DD28-4615-B3C0-D9B25146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79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07D32-F0FC-4104-A867-0755D450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0751E5-10C1-48CD-9E83-8C8121F7F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9A052-814A-4917-8F9F-CEA9186F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58C21-CC49-47FD-A93C-800F990731B2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8E7B1A-961E-491F-A73B-1B3959A8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383092-8F4B-4F4F-B78D-A51C4ED9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847B7-0450-40D2-AD84-FB6013D4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250C2-F6BD-4DE1-8AC6-F22322B86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EAED8E-FE84-44B5-BFD8-A6EB9DC9F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FD1FB6-A59C-4474-B424-D5580816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7658-6D8F-4276-A76D-38F2FDE56B7F}" type="datetime1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ED0B15-CF5A-42AC-AF3F-378D12FB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07A384-DFBE-4ED9-9CC2-1102BDB3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75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F8274-6EEB-4E15-B6BF-6038775A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39874D-1CF9-4C57-9166-6429229A2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651C2A-72BC-4CAF-8533-B2A1551A7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69B0A1-5DA0-4547-B9E8-A9FC814A8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136C34-367B-4576-97C5-BDAD3BD8A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16DDDA-371F-49BB-B1B6-70EA8025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BEC5-9387-4E98-A8B7-B48C6FD6F676}" type="datetime1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2CFB26-958C-4E1C-B738-2F5AB109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49ADC1-A1CC-43B8-8B9D-B9180D15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82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5B809-9055-4247-AD51-0C1F76CE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E9D2A6-476D-4693-A78C-699C0B10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49D7-65CF-4EDF-99DD-AC5BB3885250}" type="datetime1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0C3D2A1-25CA-458F-88BB-787B44B5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5438AE-F2A9-40D2-8C0C-6E74EAE8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03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BEC3E4-3CED-4626-A946-5A6EE094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CC80F-236F-4A85-8D88-AA76553A192A}" type="datetime1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E6DEC8-26DE-4531-8936-70ADB46D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0DFF8E-F1F8-4617-9252-FCA9DCDA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49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CBF5B-374B-4DF5-8BFC-0D810FCC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7D8C82-4A4D-4EC6-9BFE-34ABCDAE5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C24BE-CD97-4D74-8409-C0C53D359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6BD445-5409-4F40-817F-1216FC7B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01AF7-40C9-4F8A-87C7-71BC3ECB82F7}" type="datetime1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88AF2C-A6DA-48AD-B510-99076B42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25BA46-D5C3-4FB7-B18B-70E1B1BC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7F7A8-D9AF-4789-A5BB-C9A547A3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06CCDE-352A-44BE-BC5A-F87973FAE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6C0677-3A30-495F-B04F-FD5C15D43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2998F9-3E0F-4F3A-9D61-1C6C41A2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C8F6-DE23-4377-82FD-90EAEC154A22}" type="datetime1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0263-8060-476D-8A4C-0CED963D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639449-14D9-4681-90D7-D8284A2F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42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2A1E5-81F0-4FC3-96B7-F8477032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3FBE59-E202-43C1-B098-50A19CF26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81D045-74F7-4D48-A4D4-CC6787D6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C08F-76B6-4438-BE16-220F503EBFA4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6E0A3F-ACD4-4B7E-9966-4D2F06D0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8143FF-7FF9-4EAD-9124-3E1416BB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85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172443-8139-4F6C-97EF-B24CF2315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72A555-EDAD-4EDB-B1D4-8D8D0D68C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B3979-BE3C-47DB-9EB9-2A1CD2AB4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8CC7-2AF3-401D-8334-9D249558710F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D077CA-ED5C-4775-AEB2-FBBDA756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7B2DA-DC88-450B-B70B-B4DEE99E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64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FE0A2-4E8E-447B-AF43-5A3605B7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37A72F-E427-4F06-9EAC-FB714738F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B7EE33-9A4A-4492-ADF0-385E450C8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CF36-B794-4D95-B5D8-E04E0F2A679A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BA6FFA-846C-4D07-8D03-1F34A7AAE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02A254-14C8-4AB1-B82F-514969100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E409E-B399-4413-97CD-6BF01232D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14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docs/Web/JavaScript/Guide/Language_overview" TargetMode="External"/><Relationship Id="rId7" Type="http://schemas.openxmlformats.org/officeDocument/2006/relationships/image" Target="../media/image7.svg"/><Relationship Id="rId2" Type="http://schemas.openxmlformats.org/officeDocument/2006/relationships/hyperlink" Target="https://www.youtube.com/watch?v=d0BLPWL3Kx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EF828-3B66-4A13-8509-5392B6043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Кроссплатформенная разработка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0F561-FCC7-46D9-BF05-DF5C87D16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Тема 2.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06A8BB-0D3B-43A7-8EC0-D63B4AFC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57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7E046-86B3-4496-8380-CA2871EF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JavaScript?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EC0101-F789-4A32-97C9-7087F0D4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729" y="151873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ECMAScript – </a:t>
            </a:r>
            <a:r>
              <a:rPr lang="ru-RU" dirty="0"/>
              <a:t>стандарт языка </a:t>
            </a:r>
            <a:r>
              <a:rPr lang="en-US" dirty="0"/>
              <a:t>JavaScript. </a:t>
            </a:r>
            <a:r>
              <a:rPr lang="ru-RU" dirty="0"/>
              <a:t>Описывает синтаксис, но не </a:t>
            </a:r>
            <a:r>
              <a:rPr lang="en-US" dirty="0"/>
              <a:t>API </a:t>
            </a:r>
            <a:r>
              <a:rPr lang="ru-RU" dirty="0"/>
              <a:t>среды исполнения</a:t>
            </a:r>
          </a:p>
          <a:p>
            <a:r>
              <a:rPr lang="ru-RU" dirty="0"/>
              <a:t>Первая версия была разработана </a:t>
            </a:r>
            <a:r>
              <a:rPr lang="en-US" dirty="0"/>
              <a:t>1995 </a:t>
            </a:r>
            <a:r>
              <a:rPr lang="ru-RU" dirty="0"/>
              <a:t>компанией </a:t>
            </a:r>
            <a:r>
              <a:rPr lang="en-US" dirty="0"/>
              <a:t>Netscape</a:t>
            </a:r>
          </a:p>
          <a:p>
            <a:pPr marL="0" indent="0">
              <a:buNone/>
            </a:pPr>
            <a:r>
              <a:rPr lang="ru-RU" dirty="0" err="1"/>
              <a:t>Брэнданом</a:t>
            </a:r>
            <a:r>
              <a:rPr lang="ru-RU" dirty="0"/>
              <a:t> </a:t>
            </a:r>
            <a:r>
              <a:rPr lang="ru-RU" dirty="0" err="1"/>
              <a:t>Эйхом</a:t>
            </a:r>
            <a:endParaRPr lang="en-US" dirty="0"/>
          </a:p>
          <a:p>
            <a:r>
              <a:rPr lang="en-US" dirty="0"/>
              <a:t>1997 – </a:t>
            </a:r>
            <a:r>
              <a:rPr lang="ru-RU" dirty="0"/>
              <a:t>первая редакция </a:t>
            </a:r>
            <a:r>
              <a:rPr lang="en-US" dirty="0"/>
              <a:t>ECMAScript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5E883-E96E-4C48-95FB-48E72EF1D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2075" y="3305175"/>
            <a:ext cx="237172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851C93-C8EE-4C48-AB06-43EE9FC46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25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E2976-054B-4117-95F8-DE87063E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свойства языка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1A9FD-1519-43DC-975E-0AD357F7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Мультипарадигменный</a:t>
            </a:r>
            <a:endParaRPr lang="ru-RU" dirty="0"/>
          </a:p>
          <a:p>
            <a:r>
              <a:rPr lang="ru-RU" dirty="0"/>
              <a:t>Интерпретируем</a:t>
            </a:r>
          </a:p>
          <a:p>
            <a:r>
              <a:rPr lang="ru-RU" dirty="0"/>
              <a:t>Нестрого типизированный</a:t>
            </a:r>
          </a:p>
          <a:p>
            <a:r>
              <a:rPr lang="ru-RU" dirty="0"/>
              <a:t>Автоматическое управление память</a:t>
            </a:r>
          </a:p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C7AC27-7385-4379-BFA2-A1B53286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98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1ED90-CC68-4353-B342-97DA3771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Актуальные движки </a:t>
            </a:r>
            <a:r>
              <a:rPr lang="en-US" dirty="0"/>
              <a:t>JS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87069EF-826E-4E4C-AA01-7E9EC033A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183382" cy="237205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9843E3-148C-4AD0-B063-B32ECFDBDDAC}"/>
              </a:ext>
            </a:extLst>
          </p:cNvPr>
          <p:cNvSpPr txBox="1"/>
          <p:nvPr/>
        </p:nvSpPr>
        <p:spPr>
          <a:xfrm>
            <a:off x="927100" y="4248150"/>
            <a:ext cx="9094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Серверные реализации</a:t>
            </a:r>
          </a:p>
          <a:p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9E8F042F-8257-44A5-91A6-9B55BAD1D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309847"/>
              </p:ext>
            </p:extLst>
          </p:nvPr>
        </p:nvGraphicFramePr>
        <p:xfrm>
          <a:off x="987898" y="4646627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14991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03439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Движок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978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Node.JS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9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Deno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V8 + Rust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423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JavaScriptCore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009316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CFD132-650E-4EB1-BA29-4CADA607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315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722042-C94A-4007-8EAB-69FC73F6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0174"/>
            <a:ext cx="10369552" cy="5184776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BD25839-432C-4675-9972-FAF7CD5E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Рейтинг </a:t>
            </a:r>
            <a:r>
              <a:rPr lang="en-US" dirty="0"/>
              <a:t>TIOBE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D87EC0-2B8D-4106-827B-6A11FA7E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80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6B911-2F23-409B-ACDA-AC2B462A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Нестрого типизированный с типами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46513-8179-41BE-B7D6-5C58B4B9E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Примитивные типы данных</a:t>
            </a:r>
          </a:p>
          <a:p>
            <a:pPr lvl="1"/>
            <a:r>
              <a:rPr lang="en-US" dirty="0" err="1"/>
              <a:t>boolean</a:t>
            </a:r>
            <a:endParaRPr lang="en-US" dirty="0"/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 err="1"/>
              <a:t>bigint</a:t>
            </a:r>
            <a:endParaRPr lang="en-US" dirty="0"/>
          </a:p>
          <a:p>
            <a:pPr lvl="1"/>
            <a:r>
              <a:rPr lang="en-US" dirty="0"/>
              <a:t>null</a:t>
            </a:r>
          </a:p>
          <a:p>
            <a:pPr lvl="1"/>
            <a:r>
              <a:rPr lang="en-US" dirty="0"/>
              <a:t>undefined</a:t>
            </a:r>
          </a:p>
          <a:p>
            <a:pPr lvl="1"/>
            <a:r>
              <a:rPr lang="en-US" dirty="0"/>
              <a:t>Symbol</a:t>
            </a:r>
          </a:p>
          <a:p>
            <a:r>
              <a:rPr lang="ru-RU" dirty="0"/>
              <a:t>Ссылочные типы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1C71F6-0AD9-40B2-BBF0-838E775C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59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9616A-3642-4EDD-8E4B-A214F637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boolean</a:t>
            </a:r>
            <a:r>
              <a:rPr lang="en-US" dirty="0"/>
              <a:t>, string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B9D228-6654-4113-9B14-6250C880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324"/>
            <a:ext cx="10515600" cy="481012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Примеры литералов, соответствующих типу </a:t>
            </a:r>
            <a:r>
              <a:rPr lang="en-US" dirty="0" err="1"/>
              <a:t>boolean</a:t>
            </a:r>
            <a:r>
              <a:rPr lang="en-US" dirty="0"/>
              <a:t>: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endParaRPr lang="en-US" dirty="0"/>
          </a:p>
          <a:p>
            <a:r>
              <a:rPr lang="ru-RU" dirty="0"/>
              <a:t>Примеры литералов, соответствующих типу </a:t>
            </a:r>
            <a:r>
              <a:rPr lang="en-US" dirty="0"/>
              <a:t>string: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ru-RU" dirty="0"/>
              <a:t>Привет мир!</a:t>
            </a:r>
            <a:r>
              <a:rPr lang="en-US" dirty="0"/>
              <a:t>”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‘</a:t>
            </a:r>
            <a:r>
              <a:rPr lang="ru-RU" dirty="0"/>
              <a:t>Привет мир!</a:t>
            </a:r>
            <a:r>
              <a:rPr lang="en-US" dirty="0"/>
              <a:t>’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`</a:t>
            </a:r>
            <a:r>
              <a:rPr lang="ru-RU" dirty="0"/>
              <a:t>Привет</a:t>
            </a:r>
            <a:r>
              <a:rPr lang="en-US" dirty="0"/>
              <a:t> ${world}</a:t>
            </a:r>
            <a:r>
              <a:rPr lang="ru-RU" dirty="0"/>
              <a:t>!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ru-RU" dirty="0"/>
              <a:t>					Строки неизменяемые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D72ADF-F996-4D1A-8088-2D7E8A1C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10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3E324-6940-4833-970E-5B611588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0C4A6-3FE4-4447-8FD9-1FBBA9A0C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Примеры литералов, соответствующих типу </a:t>
            </a:r>
            <a:r>
              <a:rPr lang="en-US" dirty="0"/>
              <a:t>number:</a:t>
            </a:r>
          </a:p>
          <a:p>
            <a:r>
              <a:rPr lang="en-US" dirty="0"/>
              <a:t>42</a:t>
            </a:r>
          </a:p>
          <a:p>
            <a:r>
              <a:rPr lang="en-US" dirty="0"/>
              <a:t>3.14</a:t>
            </a:r>
          </a:p>
          <a:p>
            <a:r>
              <a:rPr lang="en-US" dirty="0"/>
              <a:t>Infinity</a:t>
            </a:r>
          </a:p>
          <a:p>
            <a:r>
              <a:rPr lang="en-US" dirty="0"/>
              <a:t>-Infinity</a:t>
            </a:r>
          </a:p>
          <a:p>
            <a:r>
              <a:rPr lang="en-US" dirty="0"/>
              <a:t>Nan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E6308C-3CD9-4669-A6C6-D02F4296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02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FA755-6701-4FA1-9E0E-F2FA664A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bigint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64891-9F07-4EAC-814C-DF77B0DD8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Появились в </a:t>
            </a:r>
            <a:r>
              <a:rPr lang="en-US" dirty="0"/>
              <a:t>ES2020, </a:t>
            </a:r>
            <a:r>
              <a:rPr lang="ru-RU" dirty="0"/>
              <a:t>представляют целые числа произвольной длины.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Примеры </a:t>
            </a:r>
            <a:r>
              <a:rPr lang="en-US" dirty="0" err="1"/>
              <a:t>bigint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const big = 9007199254740991n</a:t>
            </a:r>
          </a:p>
          <a:p>
            <a:pPr marL="0" indent="0">
              <a:buNone/>
            </a:pPr>
            <a:r>
              <a:rPr lang="en-US" dirty="0"/>
              <a:t>const also = </a:t>
            </a:r>
            <a:r>
              <a:rPr lang="en-US" dirty="0" err="1"/>
              <a:t>BigInt</a:t>
            </a:r>
            <a:r>
              <a:rPr lang="en-US" dirty="0"/>
              <a:t>("12345678901234567890")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1DB361-6B11-495E-B8E3-0A38728C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24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610FE-EE04-48F6-8044-F45100AF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== undefined != false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33B2AC-3E97-4483-92E6-C1F50301A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null </a:t>
            </a:r>
            <a:r>
              <a:rPr lang="ru-RU" dirty="0"/>
              <a:t>и </a:t>
            </a:r>
            <a:r>
              <a:rPr lang="en-US" dirty="0"/>
              <a:t>undefined </a:t>
            </a:r>
            <a:r>
              <a:rPr lang="ru-RU" dirty="0"/>
              <a:t>два особых типа данных.</a:t>
            </a:r>
          </a:p>
          <a:p>
            <a:pPr marL="0" indent="0">
              <a:buNone/>
            </a:pPr>
            <a:r>
              <a:rPr lang="en-US" dirty="0"/>
              <a:t>null – </a:t>
            </a:r>
            <a:r>
              <a:rPr lang="ru-RU" dirty="0"/>
              <a:t>переменная есть, но значения нет.</a:t>
            </a:r>
          </a:p>
          <a:p>
            <a:pPr marL="0" indent="0">
              <a:buNone/>
            </a:pPr>
            <a:r>
              <a:rPr lang="en-US" dirty="0"/>
              <a:t>undefined</a:t>
            </a:r>
            <a:r>
              <a:rPr lang="ru-RU" dirty="0"/>
              <a:t> – даже переменной нет.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Равны друг другу, но не равны </a:t>
            </a: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null) // “object”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5693A9-D597-4DDA-BFD4-4329B3D7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54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BE394-404A-4839-9980-A7CA66DC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E3396-F642-4E8B-9B46-59C8A06A8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Появился в </a:t>
            </a:r>
            <a:r>
              <a:rPr lang="en-US" dirty="0"/>
              <a:t>ES2015. </a:t>
            </a:r>
            <a:r>
              <a:rPr lang="ru-RU" dirty="0"/>
              <a:t>Представляет уникальный и неизменяемый идентификатор.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const id = Symbol("id");</a:t>
            </a:r>
          </a:p>
          <a:p>
            <a:pPr marL="0" indent="0">
              <a:buNone/>
            </a:pPr>
            <a:r>
              <a:rPr lang="en-US" dirty="0"/>
              <a:t>const id2 = Symbol("id");</a:t>
            </a:r>
          </a:p>
          <a:p>
            <a:pPr marL="0" indent="0">
              <a:buNone/>
            </a:pPr>
            <a:r>
              <a:rPr lang="en-US" dirty="0"/>
              <a:t>console.log(id === id2); // false — </a:t>
            </a:r>
            <a:r>
              <a:rPr lang="ru-RU" dirty="0"/>
              <a:t>каждый символ уникален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6420CE-6B64-45DD-9CBD-A9760A41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54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863D8-1C59-4FC7-935B-1642B456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Служебный оператор </a:t>
            </a:r>
            <a:r>
              <a:rPr lang="en-US" dirty="0" err="1"/>
              <a:t>typeof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1340D1-66F3-43FC-A453-E26F47BD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42          		// "number"</a:t>
            </a:r>
          </a:p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"str"       		// "string"</a:t>
            </a:r>
          </a:p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true        		// "</a:t>
            </a:r>
            <a:r>
              <a:rPr lang="en-US" dirty="0" err="1"/>
              <a:t>boolean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undefined   		// "undefined"</a:t>
            </a:r>
          </a:p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null        		// "object"  ← </a:t>
            </a:r>
            <a:r>
              <a:rPr lang="ru-RU" dirty="0"/>
              <a:t>не баг, а фича! (</a:t>
            </a:r>
            <a:r>
              <a:rPr lang="en-US" dirty="0"/>
              <a:t>legacy </a:t>
            </a:r>
            <a:r>
              <a:rPr lang="ru-RU" dirty="0"/>
              <a:t>баг)</a:t>
            </a:r>
          </a:p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Symbol()    		// "symbol"</a:t>
            </a:r>
          </a:p>
          <a:p>
            <a:pPr marL="0" indent="0">
              <a:buNone/>
            </a:pPr>
            <a:r>
              <a:rPr lang="en-US" dirty="0" err="1"/>
              <a:t>typeof</a:t>
            </a:r>
            <a:r>
              <a:rPr lang="en-US" dirty="0"/>
              <a:t> 10n         		// "</a:t>
            </a:r>
            <a:r>
              <a:rPr lang="en-US" dirty="0" err="1"/>
              <a:t>bigint</a:t>
            </a:r>
            <a:r>
              <a:rPr lang="en-US" dirty="0"/>
              <a:t>"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2A4CEA-C1E7-44E2-A3C2-C468AF42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37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46977-DE13-43B2-80D2-B7E406FD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Обёртки над примитивами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D87772-937F-4CCC-B943-5704881CB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5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const x = new Boolean(false)</a:t>
            </a:r>
          </a:p>
          <a:p>
            <a:pPr marL="0" indent="0">
              <a:buNone/>
            </a:pPr>
            <a:r>
              <a:rPr lang="en-US" dirty="0"/>
              <a:t>if (x) {</a:t>
            </a:r>
          </a:p>
          <a:p>
            <a:pPr marL="0" indent="0">
              <a:buNone/>
            </a:pPr>
            <a:r>
              <a:rPr lang="en-US" dirty="0"/>
              <a:t>	// </a:t>
            </a:r>
            <a:r>
              <a:rPr lang="ru-RU" dirty="0"/>
              <a:t>Я здесь!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r>
              <a:rPr lang="ru-RU" dirty="0"/>
              <a:t> </a:t>
            </a:r>
            <a:r>
              <a:rPr lang="en-US" dirty="0"/>
              <a:t>else {</a:t>
            </a:r>
          </a:p>
          <a:p>
            <a:pPr marL="0" indent="0">
              <a:buNone/>
            </a:pPr>
            <a:r>
              <a:rPr lang="en-US" dirty="0"/>
              <a:t>	// </a:t>
            </a:r>
            <a:r>
              <a:rPr lang="ru-RU" dirty="0"/>
              <a:t>Но не здесь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		</a:t>
            </a:r>
            <a:r>
              <a:rPr lang="ru-RU" dirty="0">
                <a:solidFill>
                  <a:srgbClr val="C00000"/>
                </a:solidFill>
              </a:rPr>
              <a:t>Плохо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E88910-EFD3-4E14-90B8-E0BDC322A546}"/>
              </a:ext>
            </a:extLst>
          </p:cNvPr>
          <p:cNvSpPr txBox="1">
            <a:spLocks/>
          </p:cNvSpPr>
          <p:nvPr/>
        </p:nvSpPr>
        <p:spPr>
          <a:xfrm>
            <a:off x="6026150" y="1825625"/>
            <a:ext cx="4495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const x = Boolean(false)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if (</a:t>
            </a:r>
            <a:r>
              <a:rPr lang="ru-RU" dirty="0"/>
              <a:t>!</a:t>
            </a:r>
            <a:r>
              <a:rPr lang="en-US" dirty="0"/>
              <a:t>x)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// </a:t>
            </a:r>
            <a:r>
              <a:rPr lang="ru-RU" dirty="0"/>
              <a:t>Я здесь!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  <a:r>
              <a:rPr lang="ru-RU" dirty="0"/>
              <a:t> </a:t>
            </a:r>
            <a:r>
              <a:rPr lang="en-US" dirty="0"/>
              <a:t>else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// </a:t>
            </a:r>
            <a:r>
              <a:rPr lang="ru-RU" dirty="0"/>
              <a:t>Но не здесь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		</a:t>
            </a:r>
            <a:r>
              <a:rPr lang="ru-RU" dirty="0">
                <a:solidFill>
                  <a:srgbClr val="00B050"/>
                </a:solidFill>
              </a:rPr>
              <a:t>Хорошо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5666F0-2321-4374-B832-273E47DF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288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D2983-4B7F-4ABA-91AF-0F807105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Объектов бесконечно много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C0E22-3BE1-42A9-996B-92949747A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  <a:p>
            <a:r>
              <a:rPr lang="en-US" dirty="0"/>
              <a:t>Array</a:t>
            </a:r>
          </a:p>
          <a:p>
            <a:r>
              <a:rPr lang="en-US" dirty="0"/>
              <a:t>Function</a:t>
            </a:r>
          </a:p>
          <a:p>
            <a:r>
              <a:rPr lang="en-US" dirty="0" err="1"/>
              <a:t>RegExp</a:t>
            </a:r>
            <a:endParaRPr lang="en-US" dirty="0"/>
          </a:p>
          <a:p>
            <a:r>
              <a:rPr lang="en-US" dirty="0"/>
              <a:t>Error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…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DADFD7-112F-4744-9CC4-2F7337A6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256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97FAE-BEEC-40BC-8D79-1889CE82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Литералы для</a:t>
            </a:r>
            <a:r>
              <a:rPr lang="en-US" dirty="0"/>
              <a:t> </a:t>
            </a:r>
            <a:r>
              <a:rPr lang="ru-RU" dirty="0"/>
              <a:t>встроенных объектов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F7D67-BF32-4B4A-8612-15582241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new Object()</a:t>
            </a:r>
          </a:p>
          <a:p>
            <a:pPr marL="0" indent="0">
              <a:buNone/>
            </a:pPr>
            <a:r>
              <a:rPr lang="en-US" dirty="0"/>
              <a:t>new Array(1,2,3)</a:t>
            </a:r>
          </a:p>
          <a:p>
            <a:pPr marL="0" indent="0">
              <a:buNone/>
            </a:pPr>
            <a:r>
              <a:rPr lang="en-US" dirty="0"/>
              <a:t>new Function(‘a, b’, ‘return a + b’)</a:t>
            </a:r>
          </a:p>
          <a:p>
            <a:pPr marL="0" indent="0">
              <a:buNone/>
            </a:pPr>
            <a:r>
              <a:rPr lang="en-US" dirty="0"/>
              <a:t>new </a:t>
            </a:r>
            <a:r>
              <a:rPr lang="en-US" dirty="0" err="1"/>
              <a:t>RegExp</a:t>
            </a:r>
            <a:r>
              <a:rPr lang="en-US" dirty="0"/>
              <a:t>(‘\\w’, ‘g’)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{}</a:t>
            </a:r>
          </a:p>
          <a:p>
            <a:pPr marL="0" indent="0">
              <a:buNone/>
            </a:pPr>
            <a:r>
              <a:rPr lang="en-US" dirty="0"/>
              <a:t>[1, 2, 3]</a:t>
            </a:r>
          </a:p>
          <a:p>
            <a:pPr marL="0" indent="0">
              <a:buNone/>
            </a:pPr>
            <a:r>
              <a:rPr lang="en-US" dirty="0"/>
              <a:t>function (a, b) { return a + b }</a:t>
            </a:r>
          </a:p>
          <a:p>
            <a:pPr marL="0" indent="0">
              <a:buNone/>
            </a:pPr>
            <a:r>
              <a:rPr lang="en-US" dirty="0"/>
              <a:t>/\w/g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BB311-77B3-4062-9D12-001649B4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40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4ECE7-67FD-4286-9A43-A9765D03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Преобразование </a:t>
            </a:r>
            <a:r>
              <a:rPr lang="en-US" dirty="0" err="1"/>
              <a:t>ToBoolean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9C3D4B-33F2-48EF-888A-684475C6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3100" dirty="0"/>
              <a:t>Все объекты = </a:t>
            </a:r>
            <a:r>
              <a:rPr lang="en-US" sz="3100" dirty="0"/>
              <a:t>true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Все примитивы тоже </a:t>
            </a:r>
            <a:r>
              <a:rPr lang="en-US" sz="3100" dirty="0"/>
              <a:t>true, </a:t>
            </a:r>
            <a:r>
              <a:rPr lang="ru-RU" sz="3100" dirty="0"/>
              <a:t>кроме следующих: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/>
              <a:t>false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/>
              <a:t>null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/>
              <a:t>undefined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/>
              <a:t>‘’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/>
              <a:t>0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/>
              <a:t>-0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700" dirty="0" err="1"/>
              <a:t>NaN</a:t>
            </a:r>
            <a:endParaRPr lang="ru-RU" sz="27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69E928-1405-461D-8BC2-E7BDB599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067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9B407-72C5-435F-AF1B-586F942B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</a:t>
            </a:r>
            <a:r>
              <a:rPr lang="en-US" dirty="0" err="1"/>
              <a:t>ToString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DCB0F-B934-41D4-9ABB-B59F68B67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Примитивы оборачиваются в кавычки</a:t>
            </a:r>
          </a:p>
          <a:p>
            <a:r>
              <a:rPr lang="ru-RU" dirty="0"/>
              <a:t>Объекты </a:t>
            </a:r>
            <a:r>
              <a:rPr lang="en-US" dirty="0"/>
              <a:t>– </a:t>
            </a:r>
            <a:r>
              <a:rPr lang="en-US" dirty="0" err="1"/>
              <a:t>toString</a:t>
            </a:r>
            <a:r>
              <a:rPr lang="en-US" dirty="0"/>
              <a:t>()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889DB4-73C0-4EE3-8367-7B2C2DAD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86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DE235-8898-4DA6-BD8A-829BEFA6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</a:t>
            </a:r>
            <a:r>
              <a:rPr lang="en-US" dirty="0" err="1"/>
              <a:t>ToNumber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50898F-6B14-48DC-873A-4F9C1DC6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true/false = 1/0</a:t>
            </a:r>
          </a:p>
          <a:p>
            <a:r>
              <a:rPr lang="ru-RU" dirty="0"/>
              <a:t>Объекты – </a:t>
            </a:r>
            <a:r>
              <a:rPr lang="en-US" dirty="0" err="1"/>
              <a:t>toNumber</a:t>
            </a:r>
            <a:r>
              <a:rPr lang="en-US" dirty="0"/>
              <a:t>()</a:t>
            </a:r>
          </a:p>
          <a:p>
            <a:r>
              <a:rPr lang="ru-RU" dirty="0"/>
              <a:t>Строки: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Пустая строка – 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Trim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Знак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Цифры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Хоть один неверный символ - </a:t>
            </a:r>
            <a:r>
              <a:rPr lang="en-US" dirty="0" err="1"/>
              <a:t>NaN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14E525-685E-4F14-9F33-96EFF93E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574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454B3-173F-4808-BECC-4B4CB5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и неявное преобразование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F36AA0-47D6-4369-BB46-B1BF0912F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Явное – это вышеописанные методы + интерполированная строка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Всё остальное – неявное преобразование.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1F9E64-AB88-45DF-8CEA-F52BA167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440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28A7D-C305-4810-A852-DFE6DF26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преобразование </a:t>
            </a:r>
            <a:r>
              <a:rPr lang="en-US" dirty="0" err="1"/>
              <a:t>toBoolean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D6996-C34D-4CDD-9A7C-D2169DB49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!!</a:t>
            </a:r>
          </a:p>
          <a:p>
            <a:pPr marL="0" indent="0">
              <a:buNone/>
            </a:pPr>
            <a:r>
              <a:rPr lang="en-US" dirty="0"/>
              <a:t>if, for, while, do-while</a:t>
            </a:r>
          </a:p>
          <a:p>
            <a:pPr marL="0" indent="0">
              <a:buNone/>
            </a:pPr>
            <a:r>
              <a:rPr lang="ru-RU" dirty="0"/>
              <a:t>Тернарный оператор </a:t>
            </a:r>
            <a:r>
              <a:rPr lang="en-US" dirty="0"/>
              <a:t>? 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Операторы </a:t>
            </a:r>
            <a:r>
              <a:rPr lang="en-US" dirty="0"/>
              <a:t>&amp;&amp; </a:t>
            </a:r>
            <a:r>
              <a:rPr lang="ru-RU" dirty="0"/>
              <a:t>и </a:t>
            </a:r>
            <a:r>
              <a:rPr lang="en-US" dirty="0"/>
              <a:t>||</a:t>
            </a:r>
          </a:p>
          <a:p>
            <a:pPr marL="0" indent="0">
              <a:buNone/>
            </a:pPr>
            <a:r>
              <a:rPr lang="ru-RU" dirty="0"/>
              <a:t>Сначала преобразуется левая часть. Если </a:t>
            </a:r>
            <a:r>
              <a:rPr lang="en-US" dirty="0"/>
              <a:t>true – </a:t>
            </a:r>
            <a:r>
              <a:rPr lang="ru-RU" dirty="0"/>
              <a:t>стоп.</a:t>
            </a:r>
          </a:p>
          <a:p>
            <a:pPr marL="0" indent="0">
              <a:buNone/>
            </a:pPr>
            <a:r>
              <a:rPr lang="en-US" dirty="0"/>
              <a:t>!</a:t>
            </a:r>
            <a:r>
              <a:rPr lang="en-US" dirty="0" err="1"/>
              <a:t>isComputed</a:t>
            </a:r>
            <a:r>
              <a:rPr lang="en-US" dirty="0"/>
              <a:t> &amp;&amp; </a:t>
            </a:r>
            <a:r>
              <a:rPr lang="en-US" dirty="0" err="1"/>
              <a:t>doComputation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const x = y &amp;&amp; z</a:t>
            </a:r>
          </a:p>
          <a:p>
            <a:pPr marL="0" indent="0">
              <a:buNone/>
            </a:pPr>
            <a:r>
              <a:rPr lang="en-US" dirty="0"/>
              <a:t>const x = y || z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C00E6C-B09A-4FCE-864B-C28980E9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35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65809-DED7-48E4-A2C7-CC21B9B8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преобразование </a:t>
            </a:r>
            <a:r>
              <a:rPr lang="en-US" dirty="0" err="1"/>
              <a:t>toNumber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36082-00CA-4F66-91C6-DD8406C05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Математические и битовые операции, кроме бинарного +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один из операторов строка, то второй преобразуется к строке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к строке пытаются преобразовать объект, то у него вызовется </a:t>
            </a:r>
            <a:r>
              <a:rPr lang="en-US" dirty="0" err="1"/>
              <a:t>valueOf</a:t>
            </a:r>
            <a:r>
              <a:rPr lang="en-US" dirty="0"/>
              <a:t>, </a:t>
            </a:r>
            <a:r>
              <a:rPr lang="ru-RU" dirty="0"/>
              <a:t>не </a:t>
            </a:r>
            <a:r>
              <a:rPr lang="en-US" dirty="0" err="1"/>
              <a:t>toString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A41AB7-7D13-4885-9DEF-CAE42B2C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440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A3D09-ABFD-4DE4-ADCB-C6A66B8F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D6742-65DF-4077-9FD7-8046B8FD4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Сравнение без преобразований === и </a:t>
            </a:r>
            <a:r>
              <a:rPr lang="en-US" dirty="0"/>
              <a:t>!==</a:t>
            </a:r>
          </a:p>
          <a:p>
            <a:r>
              <a:rPr lang="ru-RU" dirty="0"/>
              <a:t>Все объекты сравниваются по ссылками хоть ==, хоть ===</a:t>
            </a:r>
          </a:p>
          <a:p>
            <a:r>
              <a:rPr lang="ru-RU" dirty="0"/>
              <a:t>==, !=, </a:t>
            </a:r>
            <a:r>
              <a:rPr lang="en-US" dirty="0"/>
              <a:t>&gt;, &lt;, &gt;=, &lt;= </a:t>
            </a:r>
            <a:r>
              <a:rPr lang="ru-RU" dirty="0"/>
              <a:t>предпочитают числа</a:t>
            </a:r>
          </a:p>
          <a:p>
            <a:r>
              <a:rPr lang="en-US" dirty="0"/>
              <a:t>null == undefined</a:t>
            </a:r>
          </a:p>
          <a:p>
            <a:r>
              <a:rPr lang="en-US" dirty="0" err="1"/>
              <a:t>NaN</a:t>
            </a:r>
            <a:r>
              <a:rPr lang="en-US" dirty="0"/>
              <a:t> !=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 err="1"/>
              <a:t>isNaN</a:t>
            </a:r>
            <a:r>
              <a:rPr lang="en-US" dirty="0"/>
              <a:t>(</a:t>
            </a:r>
            <a:r>
              <a:rPr lang="en-US" dirty="0" err="1"/>
              <a:t>NaN</a:t>
            </a:r>
            <a:r>
              <a:rPr lang="en-US" dirty="0"/>
              <a:t>) 		// true</a:t>
            </a:r>
          </a:p>
          <a:p>
            <a:r>
              <a:rPr lang="en-US" dirty="0" err="1"/>
              <a:t>isNaN</a:t>
            </a:r>
            <a:r>
              <a:rPr lang="en-US" dirty="0"/>
              <a:t>(‘string’)		// true</a:t>
            </a:r>
          </a:p>
          <a:p>
            <a:r>
              <a:rPr lang="en-US" dirty="0"/>
              <a:t>Object.is(</a:t>
            </a:r>
            <a:r>
              <a:rPr lang="en-US" dirty="0" err="1"/>
              <a:t>NaN</a:t>
            </a:r>
            <a:r>
              <a:rPr lang="en-US" dirty="0"/>
              <a:t>, </a:t>
            </a:r>
            <a:r>
              <a:rPr lang="en-US" dirty="0" err="1"/>
              <a:t>NaN</a:t>
            </a:r>
            <a:r>
              <a:rPr lang="en-US" dirty="0"/>
              <a:t>) 	// true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35675B-B178-487F-8741-79E42B54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9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04F69-A7B5-4FDC-A9EE-5EDFC81C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F97BAB-220D-4165-8E08-A632C1EA7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Три способа определить переменную: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 – </a:t>
            </a:r>
            <a:r>
              <a:rPr lang="ru-RU" dirty="0"/>
              <a:t>старый способ определить изменяемую переменную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let – </a:t>
            </a:r>
            <a:r>
              <a:rPr lang="ru-RU" dirty="0"/>
              <a:t>рекомендуемый способ определить изменяемую переменную. Ограничено </a:t>
            </a:r>
            <a:r>
              <a:rPr lang="en-US" dirty="0"/>
              <a:t>scope-</a:t>
            </a:r>
            <a:r>
              <a:rPr lang="ru-RU" dirty="0"/>
              <a:t>ом (</a:t>
            </a:r>
            <a:r>
              <a:rPr lang="en-US" dirty="0"/>
              <a:t>{}</a:t>
            </a:r>
            <a:r>
              <a:rPr lang="ru-RU" dirty="0"/>
              <a:t>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 – </a:t>
            </a:r>
            <a:r>
              <a:rPr lang="ru-RU" dirty="0"/>
              <a:t>догадаетесь?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F77734-8DD8-45DE-AF2F-91739396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422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DE0E4-3CF3-484A-9D92-4999441B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var </a:t>
            </a:r>
            <a:r>
              <a:rPr lang="ru-RU" dirty="0"/>
              <a:t>устарел?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4C4BE-AEA4-4FA8-A76F-3F63B9DAB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У </a:t>
            </a:r>
            <a:r>
              <a:rPr lang="en-US" dirty="0"/>
              <a:t>var </a:t>
            </a:r>
            <a:r>
              <a:rPr lang="ru-RU" dirty="0"/>
              <a:t>функциональная область видимости, не </a:t>
            </a:r>
            <a:r>
              <a:rPr lang="en-US" dirty="0"/>
              <a:t>scope. </a:t>
            </a:r>
            <a:r>
              <a:rPr lang="ru-RU" dirty="0"/>
              <a:t>Так же обладает паразитным свойством «всплытия»:</a:t>
            </a:r>
          </a:p>
          <a:p>
            <a:pPr marL="0" indent="0">
              <a:buNone/>
            </a:pPr>
            <a:r>
              <a:rPr lang="en-US" dirty="0"/>
              <a:t>console.log(a)	// undefined</a:t>
            </a:r>
          </a:p>
          <a:p>
            <a:pPr marL="0" indent="0">
              <a:buNone/>
            </a:pPr>
            <a:r>
              <a:rPr lang="en-US" dirty="0"/>
              <a:t>var a = 42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console.log(a)	// </a:t>
            </a:r>
            <a:r>
              <a:rPr lang="en-US" dirty="0" err="1"/>
              <a:t>ReferenceError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a = 42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F34D3D-DC2F-4DFC-BEEA-8C1F93B2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907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A56B4-5433-4CDA-BF24-A76D8092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выбора определения переменной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66720-17C3-443C-B458-8536977F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 – </a:t>
            </a:r>
            <a:r>
              <a:rPr lang="ru-RU" dirty="0"/>
              <a:t>признак </a:t>
            </a:r>
            <a:r>
              <a:rPr lang="en-US" dirty="0"/>
              <a:t>legacy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FEB3E4-7AFD-4332-97D6-3D31A9B1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243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1AA70-92BD-4A4C-9FC9-5FE98384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D2CB51-70D5-433A-8DAF-2D0CFA9F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(statement) {} else if (statement) else 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switch (x) {</a:t>
            </a:r>
          </a:p>
          <a:p>
            <a:pPr marL="0" indent="0">
              <a:buNone/>
            </a:pPr>
            <a:r>
              <a:rPr lang="en-US" dirty="0"/>
              <a:t>	case statement: /* code */</a:t>
            </a:r>
          </a:p>
          <a:p>
            <a:pPr marL="0" indent="0">
              <a:buNone/>
            </a:pPr>
            <a:r>
              <a:rPr lang="en-US" dirty="0"/>
              <a:t>	default: /* default code */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F7D297-0225-4407-93C4-94881AE6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787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50089-4F81-490E-B9D3-D1DEB6C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</a:t>
            </a:r>
            <a:r>
              <a:rPr lang="en-US" dirty="0"/>
              <a:t>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733F68-E1EC-4790-90FA-DE0D8FE0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(initialization; statement; every step) {</a:t>
            </a:r>
          </a:p>
          <a:p>
            <a:pPr marL="0" indent="0">
              <a:buNone/>
            </a:pPr>
            <a:r>
              <a:rPr lang="en-US" dirty="0"/>
              <a:t>	// </a:t>
            </a:r>
            <a:r>
              <a:rPr lang="ru-RU" dirty="0"/>
              <a:t>тело цикла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(const index in </a:t>
            </a:r>
            <a:r>
              <a:rPr lang="en-US" dirty="0" err="1"/>
              <a:t>someObject</a:t>
            </a:r>
            <a:r>
              <a:rPr lang="en-US" dirty="0"/>
              <a:t>) 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</a:t>
            </a:r>
            <a:r>
              <a:rPr lang="ru-RU" dirty="0"/>
              <a:t> (</a:t>
            </a:r>
            <a:r>
              <a:rPr lang="en-US" dirty="0"/>
              <a:t>const value of </a:t>
            </a:r>
            <a:r>
              <a:rPr lang="en-US" dirty="0" err="1"/>
              <a:t>someObject</a:t>
            </a:r>
            <a:r>
              <a:rPr lang="ru-RU" dirty="0"/>
              <a:t>)</a:t>
            </a:r>
            <a:r>
              <a:rPr lang="en-US" dirty="0"/>
              <a:t> {}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00C2B7-E960-44C1-A27F-1B38D748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402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3FD02-FA9D-46EF-B6D5-7BE857A4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 </a:t>
            </a:r>
            <a:r>
              <a:rPr lang="en-US" dirty="0"/>
              <a:t>while, do-while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0F638B-9A54-4D48-9A45-7E153008A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 (statement) {</a:t>
            </a:r>
          </a:p>
          <a:p>
            <a:pPr marL="0" indent="0">
              <a:buNone/>
            </a:pPr>
            <a:r>
              <a:rPr lang="en-US" dirty="0"/>
              <a:t>	// code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	// code</a:t>
            </a:r>
          </a:p>
          <a:p>
            <a:pPr marL="0" indent="0">
              <a:buNone/>
            </a:pPr>
            <a:r>
              <a:rPr lang="en-US" dirty="0"/>
              <a:t>} while (statement)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8E7BD0-14EE-4211-A9B0-618F97AD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01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BA8FA-8FF4-4CFD-8794-2C2A3B99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557F11-71E3-4699-9B68-6C7D32B0F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new Function(…</a:t>
            </a:r>
            <a:r>
              <a:rPr lang="en-US" dirty="0" err="1"/>
              <a:t>args</a:t>
            </a:r>
            <a:r>
              <a:rPr lang="en-US" dirty="0"/>
              <a:t>, </a:t>
            </a:r>
            <a:r>
              <a:rPr lang="en-US" dirty="0" err="1"/>
              <a:t>functionBody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 name(params) { /* </a:t>
            </a:r>
            <a:r>
              <a:rPr lang="ru-RU" dirty="0"/>
              <a:t>функциональное объявление</a:t>
            </a:r>
            <a:r>
              <a:rPr lang="en-US" dirty="0"/>
              <a:t> */ }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 name = function (params) {</a:t>
            </a:r>
          </a:p>
          <a:p>
            <a:pPr marL="0" indent="0">
              <a:buNone/>
            </a:pPr>
            <a:r>
              <a:rPr lang="en-US" dirty="0"/>
              <a:t>	/* </a:t>
            </a:r>
            <a:r>
              <a:rPr lang="ru-RU" dirty="0"/>
              <a:t>функциональное выражение</a:t>
            </a:r>
            <a:r>
              <a:rPr lang="en-US" dirty="0"/>
              <a:t> */ 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const name = function</a:t>
            </a:r>
            <a:r>
              <a:rPr lang="ru-RU" dirty="0"/>
              <a:t> </a:t>
            </a:r>
            <a:r>
              <a:rPr lang="en-US" dirty="0" err="1"/>
              <a:t>othername</a:t>
            </a:r>
            <a:r>
              <a:rPr lang="en-US" dirty="0"/>
              <a:t> (params) {</a:t>
            </a:r>
          </a:p>
          <a:p>
            <a:pPr marL="0" indent="0">
              <a:buNone/>
            </a:pPr>
            <a:r>
              <a:rPr lang="en-US" dirty="0"/>
              <a:t>/* </a:t>
            </a:r>
            <a:r>
              <a:rPr lang="ru-RU" dirty="0"/>
              <a:t>именованное функциональное выражение</a:t>
            </a:r>
            <a:r>
              <a:rPr lang="en-US" dirty="0"/>
              <a:t> */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5124E-3C6D-4870-83A0-B0778B67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484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46846-8243-4948-B754-A39704A1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Стрелочные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B40F48-E616-48E0-91C5-808E1F85A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Определяются только через функциональные выражения</a:t>
            </a:r>
          </a:p>
          <a:p>
            <a:r>
              <a:rPr lang="ru-RU" dirty="0"/>
              <a:t>Не имеют свой собственный </a:t>
            </a:r>
            <a:r>
              <a:rPr lang="en-US" dirty="0"/>
              <a:t>this</a:t>
            </a:r>
          </a:p>
          <a:p>
            <a:r>
              <a:rPr lang="ru-RU" dirty="0"/>
              <a:t>Не имеют свойства </a:t>
            </a:r>
            <a:r>
              <a:rPr lang="en-US" dirty="0"/>
              <a:t>parameters, </a:t>
            </a:r>
            <a:r>
              <a:rPr lang="ru-RU" dirty="0"/>
              <a:t>но кому он нужен?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functionName</a:t>
            </a:r>
            <a:r>
              <a:rPr lang="en-US" dirty="0"/>
              <a:t> = (…</a:t>
            </a:r>
            <a:r>
              <a:rPr lang="en-US" dirty="0" err="1"/>
              <a:t>args</a:t>
            </a:r>
            <a:r>
              <a:rPr lang="en-US" dirty="0"/>
              <a:t>) =&gt;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args.forEach</a:t>
            </a:r>
            <a:r>
              <a:rPr lang="en-US" dirty="0"/>
              <a:t>(e =&gt; console.log(e))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E78F32-0214-44CA-9FA1-2F1234E6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891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25765-7F72-4B76-962F-8511855D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Замыкание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ED1E0-72DE-4ABE-A43A-ACAA4768C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Замыкание = функция + лексическое окружение её создания</a:t>
            </a:r>
            <a:endParaRPr lang="en-US" dirty="0"/>
          </a:p>
          <a:p>
            <a:r>
              <a:rPr lang="ru-RU" dirty="0"/>
              <a:t>Внешняя функция завершилась — переменные всё равно живут</a:t>
            </a:r>
            <a:endParaRPr lang="en-US" dirty="0"/>
          </a:p>
          <a:p>
            <a:r>
              <a:rPr lang="ru-RU" dirty="0"/>
              <a:t>Приватное состояние без классов: счётчики, </a:t>
            </a:r>
            <a:r>
              <a:rPr lang="ru-RU" dirty="0" err="1"/>
              <a:t>debounce</a:t>
            </a:r>
            <a:r>
              <a:rPr lang="ru-RU" dirty="0"/>
              <a:t>, фабрики</a:t>
            </a:r>
            <a:endParaRPr lang="en-US" dirty="0"/>
          </a:p>
          <a:p>
            <a:r>
              <a:rPr lang="ru-RU" dirty="0"/>
              <a:t>Замыкание даёт доступ к переменной, а не к снимку значения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98AFB-13A8-463C-BE2A-5BA7DA47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752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D4EC0-849F-42FA-97E1-FB097EDC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Классека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75F44-685F-4543-96DD-331AE7B9A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11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function counter() {</a:t>
            </a:r>
          </a:p>
          <a:p>
            <a:pPr marL="0" indent="0">
              <a:buNone/>
            </a:pPr>
            <a:r>
              <a:rPr lang="en-US" dirty="0"/>
              <a:t>	let a = 0</a:t>
            </a:r>
          </a:p>
          <a:p>
            <a:pPr marL="0" indent="0">
              <a:buNone/>
            </a:pPr>
            <a:r>
              <a:rPr lang="en-US" dirty="0"/>
              <a:t>	return {</a:t>
            </a:r>
          </a:p>
          <a:p>
            <a:pPr marL="0" indent="0">
              <a:buNone/>
            </a:pPr>
            <a:r>
              <a:rPr lang="en-US" dirty="0"/>
              <a:t>		increment () {a++}			decrement () {a--}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getValue</a:t>
            </a:r>
            <a:r>
              <a:rPr lang="en-US" dirty="0"/>
              <a:t>: () =&gt; a</a:t>
            </a:r>
          </a:p>
          <a:p>
            <a:pPr marL="0" indent="0">
              <a:buNone/>
            </a:pP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BBB71F-826D-4038-88EB-BCAC820FCC6E}"/>
              </a:ext>
            </a:extLst>
          </p:cNvPr>
          <p:cNvSpPr txBox="1">
            <a:spLocks/>
          </p:cNvSpPr>
          <p:nvPr/>
        </p:nvSpPr>
        <p:spPr>
          <a:xfrm>
            <a:off x="6203950" y="1825625"/>
            <a:ext cx="4991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const counter1 = counter()</a:t>
            </a:r>
          </a:p>
          <a:p>
            <a:pPr marL="0" indent="0">
              <a:buNone/>
            </a:pPr>
            <a:r>
              <a:rPr lang="en-US" dirty="0"/>
              <a:t>const counter2 = counter()</a:t>
            </a:r>
          </a:p>
          <a:p>
            <a:pPr marL="0" indent="0">
              <a:buNone/>
            </a:pPr>
            <a:r>
              <a:rPr lang="en-US" dirty="0"/>
              <a:t>counter1.increment()</a:t>
            </a:r>
          </a:p>
          <a:p>
            <a:pPr marL="0" indent="0">
              <a:buNone/>
            </a:pPr>
            <a:r>
              <a:rPr lang="en-US" dirty="0"/>
              <a:t>counter1.increment()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console.log(counter1)</a:t>
            </a:r>
          </a:p>
          <a:p>
            <a:pPr marL="0" indent="0">
              <a:buNone/>
            </a:pPr>
            <a:r>
              <a:rPr lang="en-US" dirty="0"/>
              <a:t>console.log(counter2)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636EF4-F7CA-495E-9B12-E3DD7D7D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678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51FFC-80CE-4F3C-9004-3396C270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Фабрика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0298F-ACFD-4F79-B896-9AD99B938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function creator(factor) {</a:t>
            </a:r>
          </a:p>
          <a:p>
            <a:pPr marL="0" indent="0">
              <a:buNone/>
            </a:pPr>
            <a:r>
              <a:rPr lang="en-US" dirty="0"/>
              <a:t>	return function(num) {</a:t>
            </a:r>
          </a:p>
          <a:p>
            <a:pPr marL="0" indent="0">
              <a:buNone/>
            </a:pPr>
            <a:r>
              <a:rPr lang="en-US" dirty="0"/>
              <a:t>		return num * factor</a:t>
            </a:r>
          </a:p>
          <a:p>
            <a:pPr marL="0" indent="0">
              <a:buNone/>
            </a:pP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doubler</a:t>
            </a:r>
            <a:r>
              <a:rPr lang="en-US" dirty="0"/>
              <a:t> = creator(2)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doubler</a:t>
            </a:r>
            <a:r>
              <a:rPr lang="en-US" dirty="0"/>
              <a:t>(3))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tripler</a:t>
            </a:r>
            <a:r>
              <a:rPr lang="en-US" dirty="0"/>
              <a:t> = creator(3)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tripler</a:t>
            </a:r>
            <a:r>
              <a:rPr lang="en-US" dirty="0"/>
              <a:t>(3))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FFB98E-74B5-46E7-B221-7B9E614F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328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C6030-3EA5-457E-AAD9-717A63FF5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Прототипы – функции - классы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6C05E-8744-40B9-AD2A-03863EC33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Все объекты имеют</a:t>
            </a:r>
            <a:r>
              <a:rPr lang="en-US" dirty="0"/>
              <a:t> </a:t>
            </a:r>
            <a:r>
              <a:rPr lang="ru-RU" dirty="0"/>
              <a:t>свойство </a:t>
            </a:r>
            <a:r>
              <a:rPr lang="en-US" dirty="0"/>
              <a:t>__proto__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Функции имею свойство </a:t>
            </a:r>
            <a:r>
              <a:rPr lang="en-US" dirty="0"/>
              <a:t>prototype</a:t>
            </a:r>
            <a:r>
              <a:rPr lang="ru-RU" dirty="0"/>
              <a:t>, которое передаётся в </a:t>
            </a:r>
            <a:r>
              <a:rPr lang="en-US" dirty="0"/>
              <a:t>__proto__ </a:t>
            </a:r>
            <a:r>
              <a:rPr lang="ru-RU" dirty="0"/>
              <a:t>создаваемым экземплярам.</a:t>
            </a:r>
          </a:p>
          <a:p>
            <a:pPr marL="0" indent="0">
              <a:buNone/>
            </a:pPr>
            <a:r>
              <a:rPr lang="ru-RU" dirty="0"/>
              <a:t>Если свойства нет в текущем объекте, свойство запрашивается по цепочке </a:t>
            </a:r>
            <a:r>
              <a:rPr lang="en-US" dirty="0"/>
              <a:t>__proto__ </a:t>
            </a:r>
            <a:r>
              <a:rPr lang="ru-RU" dirty="0"/>
              <a:t>«родителей» объекта.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701DA9-F363-4766-A0BE-2D3FE2A4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917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F87CE-6539-4F89-A2DC-E0376CEA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Функции-конструкторы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372943-69CF-4A06-B492-D448D9FD5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PersonClass</a:t>
            </a:r>
            <a:r>
              <a:rPr lang="en-US" dirty="0"/>
              <a:t>(name, age) {</a:t>
            </a:r>
          </a:p>
          <a:p>
            <a:pPr marL="0" indent="0">
              <a:buNone/>
            </a:pPr>
            <a:r>
              <a:rPr lang="en-US" dirty="0"/>
              <a:t>	this.name = name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this.age</a:t>
            </a:r>
            <a:r>
              <a:rPr lang="en-US" dirty="0"/>
              <a:t> = age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this.toString</a:t>
            </a:r>
            <a:r>
              <a:rPr lang="en-US" dirty="0"/>
              <a:t> = () =&gt; `Name: ${name}, age: ${age}`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const person = new </a:t>
            </a:r>
            <a:r>
              <a:rPr lang="en-US" dirty="0" err="1"/>
              <a:t>PersonClass</a:t>
            </a:r>
            <a:r>
              <a:rPr lang="en-US" dirty="0"/>
              <a:t>(‘</a:t>
            </a:r>
            <a:r>
              <a:rPr lang="ru-RU" dirty="0"/>
              <a:t>Иван</a:t>
            </a:r>
            <a:r>
              <a:rPr lang="en-US" dirty="0"/>
              <a:t>’, 23)</a:t>
            </a:r>
          </a:p>
          <a:p>
            <a:pPr marL="0" indent="0">
              <a:buNone/>
            </a:pPr>
            <a:r>
              <a:rPr lang="en-US" dirty="0"/>
              <a:t>console.log(person) // “Name: </a:t>
            </a:r>
            <a:r>
              <a:rPr lang="ru-RU" dirty="0"/>
              <a:t>Иван, </a:t>
            </a:r>
            <a:r>
              <a:rPr lang="en-US" dirty="0"/>
              <a:t>age: </a:t>
            </a:r>
            <a:r>
              <a:rPr lang="ru-RU" dirty="0"/>
              <a:t>23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E29F0C-06B6-40C6-874D-1F0B1C854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972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2A157-EB32-4153-ADDD-76E73567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Прототипное</a:t>
            </a:r>
            <a:r>
              <a:rPr lang="ru-RU" dirty="0"/>
              <a:t>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13888-49BA-4E25-8E18-6F3DF6F7E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function Animal(sound) { </a:t>
            </a:r>
            <a:r>
              <a:rPr lang="en-US" dirty="0" err="1"/>
              <a:t>this.sound</a:t>
            </a:r>
            <a:r>
              <a:rPr lang="en-US" dirty="0"/>
              <a:t> = sound;</a:t>
            </a:r>
          </a:p>
          <a:p>
            <a:pPr marL="0" indent="0">
              <a:buNone/>
            </a:pPr>
            <a:r>
              <a:rPr lang="en-US" dirty="0" err="1"/>
              <a:t>this.says</a:t>
            </a:r>
            <a:r>
              <a:rPr lang="en-US" dirty="0"/>
              <a:t> = () =&gt; `Animal says ${</a:t>
            </a:r>
            <a:r>
              <a:rPr lang="en-US" dirty="0" err="1"/>
              <a:t>this.sound</a:t>
            </a:r>
            <a:r>
              <a:rPr lang="en-US" dirty="0"/>
              <a:t>}` }</a:t>
            </a:r>
          </a:p>
          <a:p>
            <a:pPr marL="0" indent="0">
              <a:buNone/>
            </a:pPr>
            <a:r>
              <a:rPr lang="en-US" dirty="0"/>
              <a:t>function Cat() { </a:t>
            </a:r>
            <a:r>
              <a:rPr lang="en-US" dirty="0" err="1"/>
              <a:t>Animal.call</a:t>
            </a:r>
            <a:r>
              <a:rPr lang="en-US" dirty="0"/>
              <a:t>(this, ‘</a:t>
            </a:r>
            <a:r>
              <a:rPr lang="ru-RU" dirty="0"/>
              <a:t>Мяу</a:t>
            </a:r>
            <a:r>
              <a:rPr lang="en-US" dirty="0"/>
              <a:t>’ }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ru-RU" dirty="0"/>
              <a:t>Перехватываем все свойства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Cat.prototype</a:t>
            </a:r>
            <a:r>
              <a:rPr lang="en-US" dirty="0"/>
              <a:t> = </a:t>
            </a:r>
            <a:r>
              <a:rPr lang="en-US" dirty="0" err="1"/>
              <a:t>Object.create</a:t>
            </a:r>
            <a:r>
              <a:rPr lang="en-US" dirty="0"/>
              <a:t>(</a:t>
            </a:r>
            <a:r>
              <a:rPr lang="en-US" dirty="0" err="1"/>
              <a:t>Animal.prototype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// </a:t>
            </a:r>
            <a:r>
              <a:rPr lang="ru-RU" dirty="0" err="1"/>
              <a:t>Возращаем</a:t>
            </a:r>
            <a:r>
              <a:rPr lang="ru-RU" dirty="0"/>
              <a:t> функцию-конструктор</a:t>
            </a:r>
          </a:p>
          <a:p>
            <a:pPr marL="0" indent="0">
              <a:buNone/>
            </a:pPr>
            <a:r>
              <a:rPr lang="en-US" dirty="0" err="1"/>
              <a:t>Cat.prototype.constructor</a:t>
            </a:r>
            <a:r>
              <a:rPr lang="en-US" dirty="0"/>
              <a:t> = Cat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FF1F08-6866-4C2E-B4F5-48C8C9C6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61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CF006-B2FE-416D-863D-2D25D857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ES2015 – </a:t>
            </a:r>
            <a:r>
              <a:rPr lang="ru-RU" dirty="0"/>
              <a:t>появление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297BB-847B-47DF-88CA-52F801764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Animal { </a:t>
            </a:r>
          </a:p>
          <a:p>
            <a:pPr marL="0" indent="0">
              <a:buNone/>
            </a:pPr>
            <a:r>
              <a:rPr lang="en-US" dirty="0"/>
              <a:t>	constructor(sound) { </a:t>
            </a:r>
            <a:r>
              <a:rPr lang="en-US" dirty="0" err="1"/>
              <a:t>this.sound</a:t>
            </a:r>
            <a:r>
              <a:rPr lang="en-US" dirty="0"/>
              <a:t> = sound }</a:t>
            </a:r>
            <a:br>
              <a:rPr lang="en-US" dirty="0"/>
            </a:br>
            <a:r>
              <a:rPr lang="en-US" dirty="0"/>
              <a:t>	says = () =&gt; `Animal says ${</a:t>
            </a:r>
            <a:r>
              <a:rPr lang="en-US" dirty="0" err="1"/>
              <a:t>this.sound</a:t>
            </a:r>
            <a:r>
              <a:rPr lang="en-US" dirty="0"/>
              <a:t>}`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Cat extends Animal {</a:t>
            </a:r>
          </a:p>
          <a:p>
            <a:pPr marL="0" indent="0">
              <a:buNone/>
            </a:pPr>
            <a:r>
              <a:rPr lang="en-US" dirty="0"/>
              <a:t>	 constructor() { super(‘</a:t>
            </a:r>
            <a:r>
              <a:rPr lang="ru-RU" dirty="0"/>
              <a:t>Мяу</a:t>
            </a:r>
            <a:r>
              <a:rPr lang="en-US" dirty="0"/>
              <a:t>’)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2D5A33-2A3D-4C92-80EC-221A6EE2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135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3E45A-1CC4-415F-AF2C-D77D7705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интернет-ресурсов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F2A46A-CC4E-4592-9CA5-F89EF154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405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Продвинутый </a:t>
            </a:r>
            <a:r>
              <a:rPr lang="en-US" dirty="0"/>
              <a:t>JS (</a:t>
            </a:r>
            <a:r>
              <a:rPr lang="ru-RU" dirty="0" err="1"/>
              <a:t>Бизюкик</a:t>
            </a:r>
            <a:r>
              <a:rPr lang="ru-RU" dirty="0"/>
              <a:t> Григорий)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https://www.youtube.com/watch?v=d0BLPWL3KxY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Повторное введение в JavaScript (JS учебник)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https://developer.mozilla.org/ru/docs/Web/JavaScript/Guide/Language_overview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https://nshuklin.github.io/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00BD0D-6F3B-4F10-9BE1-C5463FDF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E409E-B399-4413-97CD-6BF01232D665}" type="slidenum">
              <a:rPr lang="ru-RU" smtClean="0"/>
              <a:t>38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D46063-37C0-46CB-8903-2A219138F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6925" y="3429000"/>
            <a:ext cx="2936875" cy="29368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7AA325-2778-4609-95DF-97BAFA126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6924" y="487361"/>
            <a:ext cx="2936876" cy="293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697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1432</Words>
  <Application>Microsoft Office PowerPoint</Application>
  <PresentationFormat>Широкоэкранный</PresentationFormat>
  <Paragraphs>319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Тема Office</vt:lpstr>
      <vt:lpstr>Кроссплатформенная разработка</vt:lpstr>
      <vt:lpstr>Что такое JavaScript?</vt:lpstr>
      <vt:lpstr>Основные свойства языка</vt:lpstr>
      <vt:lpstr>Актуальные движки JS</vt:lpstr>
      <vt:lpstr>Рейтинг TIOBE</vt:lpstr>
      <vt:lpstr>Нестрого типизированный с типами</vt:lpstr>
      <vt:lpstr>boolean, string</vt:lpstr>
      <vt:lpstr>number</vt:lpstr>
      <vt:lpstr>bigint</vt:lpstr>
      <vt:lpstr>null == undefined != false</vt:lpstr>
      <vt:lpstr>symbol</vt:lpstr>
      <vt:lpstr>Служебный оператор typeof</vt:lpstr>
      <vt:lpstr>Обёртки над примитивами</vt:lpstr>
      <vt:lpstr>Объектов бесконечно много</vt:lpstr>
      <vt:lpstr>Литералы для встроенных объектов</vt:lpstr>
      <vt:lpstr>Преобразование ToBoolean</vt:lpstr>
      <vt:lpstr>Преобразование ToString</vt:lpstr>
      <vt:lpstr>Преобразование ToNumber</vt:lpstr>
      <vt:lpstr>Явное и неявное преобразование</vt:lpstr>
      <vt:lpstr>Неявное преобразование toBoolean</vt:lpstr>
      <vt:lpstr>Неявное преобразование toNumber</vt:lpstr>
      <vt:lpstr>Операторы сравнения</vt:lpstr>
      <vt:lpstr>Переменные</vt:lpstr>
      <vt:lpstr>Почему var устарел?</vt:lpstr>
      <vt:lpstr>Порядок выбора определения переменной</vt:lpstr>
      <vt:lpstr>Ветвление</vt:lpstr>
      <vt:lpstr>Циклы for</vt:lpstr>
      <vt:lpstr>Циклы while, do-while</vt:lpstr>
      <vt:lpstr>Функции</vt:lpstr>
      <vt:lpstr>Стрелочные функции</vt:lpstr>
      <vt:lpstr>Замыкание</vt:lpstr>
      <vt:lpstr>Классека</vt:lpstr>
      <vt:lpstr>Фабрика функций</vt:lpstr>
      <vt:lpstr>Прототипы – функции - классы</vt:lpstr>
      <vt:lpstr>Функции-конструкторы</vt:lpstr>
      <vt:lpstr>Прототипное наследование</vt:lpstr>
      <vt:lpstr>ES2015 – появление классов</vt:lpstr>
      <vt:lpstr>Список интернет-ресурсов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Кроссплатформенная разработка</dc:title>
  <dc:creator>Nikita A. Shuklin</dc:creator>
  <cp:lastModifiedBy>Nikita A. Shuklin</cp:lastModifiedBy>
  <cp:revision>58</cp:revision>
  <dcterms:created xsi:type="dcterms:W3CDTF">2026-09-07T07:14:04Z</dcterms:created>
  <dcterms:modified xsi:type="dcterms:W3CDTF">2026-09-08T04:16:10Z</dcterms:modified>
</cp:coreProperties>
</file>