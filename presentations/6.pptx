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7C86D-9514-490C-AB94-098C9DD181C0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E2B73-9FE2-4540-BB03-9ECB1523FE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44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73909-81B4-4EF3-BE77-C5DEC2F3B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1FAD47-FEF7-4C50-984A-4886ABD44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D59A43-EE6C-4E9C-BABA-B86B09EC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61C0-60DA-4A8F-8EDB-90C63DBD0D4F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10A184-5D3E-48EB-8CAB-2EB22210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F3F56C-3C2D-4403-BD0E-65B6FC56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40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D6A3A-83E6-4886-AAA9-2941E6C8D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B756A-0B22-4506-9C98-46462C12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5325D8-D07A-482C-AD9B-8756F3ED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6F4FF-7268-45AA-A322-CAB8A38455D2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0B06F3-A77A-4E2D-9F95-AA84DBE8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C8028A-FC82-42EF-98BB-DE5EF3C04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74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6C888-C02B-4B22-8FB9-4CA6B7E23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3A5ABC-0F36-4BAC-A5F6-9F3C0F747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D7BA88-689F-49BC-9DDE-E34B530A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6D28E-9094-4521-87CA-917B2EB1CAD0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5F7386-8CAF-43A9-A950-BED1A67D6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B4E8BC-8DA7-42F7-8854-2F1B2C76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6B7A4-88D6-417B-BFA4-21B8290E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AFBF4-4192-40BF-8BA8-732B63A5C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ACC855-A2BD-4696-A7D3-2395468CC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CF16D7-8906-4F62-AE9D-2D59E1D6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CB6D6-419A-406A-9533-AD88A84E6014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CF2C75-E00C-4693-BBD2-13B70D4B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32EB0F-5892-44F9-A9EA-46A1EC49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5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EA671-3232-4D24-90CD-61EC69ECE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7A2C96-1F63-4F36-928A-1238A1D68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0D04D2-D0A8-4F69-B60B-DB419ADB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9241AA-0F54-4940-8590-DB6D487DA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6D2738-D73E-43D7-94F5-540B170B1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703C03-08BC-458E-A2E7-D255F0222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01E52-62EC-47DF-B7CA-C52E844FFBC6}" type="datetime1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3389882-3A37-4305-81F0-4C9F25F2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65D603-FAFE-4080-BE23-FF799D7A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416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ADEA3-9013-45AA-8977-00A3870F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5B670A-0C7A-4903-8132-A7A22165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86DFA-FB74-484F-A889-FC82B0074FE5}" type="datetime1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89AE03-EC8A-4B57-AFBE-79334917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CAEF25-95ED-439F-829B-AB1413F69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76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4D46F22-398B-4B67-AE28-235A8D98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879C-B75D-4B7C-8D79-CFD7ABE5B4FF}" type="datetime1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98F7A0C-177A-4127-BB33-B11B13B5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8B6B32-6B1B-4837-9114-3ADFE214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42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F91C3-3964-4560-8554-563C1FED7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7E2E58-35CC-45D5-ACCB-5F528B07A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02BDE7-7E29-4254-A558-7E4138FE5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55B879-7656-4426-AC19-522736BB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9518-6314-4061-99FF-BF54AFDA7C1E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7933B3-0B09-4725-85B0-28267093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0FF7CD-B8DA-4BF2-9282-B638EA4D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06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C0DE5-CCA9-4AC3-9CDE-5AB4E0FD1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3D9A82-45FA-4445-AE6C-C9B7E6667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0CB3D9-7569-45D9-A15B-659D62F00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6EE1-6615-4FB8-B280-BBCC772C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DC02-8BD9-4EC3-B8B9-8EC7FEEF9045}" type="datetime1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854CCA-1185-4560-90CB-A5CBDB9C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314E47-3D74-4998-B24F-642A392D1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503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110DB-0A72-424D-B16E-A5C074E0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D58C82-DBDC-4E90-825C-554ED6DD7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0C2D0-B1E6-4C8C-8AA6-61B37958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D5712-55DA-4557-992C-35EBB6CF4F9E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07299D-2935-4321-83ED-234AA30F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FE22A6-3D5F-4315-A789-8E0959A63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0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C4F1C6-F246-4846-A921-BBC71F111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F3CE2F-B991-410C-B104-A95C5344A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0D694C-C195-4150-8553-13F968C8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749-229F-41B4-AC19-840B7329DDDE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851F25-F25E-49DF-8653-EDE6CD86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E5FBC6-71F8-47DB-99EE-6EE9BD68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56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AC0D5-EDF8-4A25-A573-976FF5393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499EB4-8A85-4BF4-9F10-CF99C247E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11B603-A423-4F48-A795-FB0085738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A1834-21C5-4C89-86B7-DEA42488BE27}" type="datetime1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A2154-311E-4ED5-91AC-E3093598C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C72E6D-AE17-4A81-9CDC-99129DC1A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D89BF-8AE1-43F3-8FAC-E387FD9988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4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CECD6-74D3-4044-9DB1-9AE2D6FCC6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Тема 6. Архитектура программного обеспечения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A8CF1F-11F8-4ABA-8174-F79F9D9C2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SPA, MVVM, MVC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5BD03E-8A2D-406C-9A9C-09712A38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00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2772A-5935-4615-94F1-442647E8A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ADF38-EEEE-444A-867F-4C7032A75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Single page application – </a:t>
            </a:r>
            <a:r>
              <a:rPr lang="ru-RU" dirty="0"/>
              <a:t>архитектурный подход, при котором браузер один раз загружает стартовый </a:t>
            </a:r>
            <a:r>
              <a:rPr lang="en-US" dirty="0"/>
              <a:t>HTML, </a:t>
            </a:r>
            <a:r>
              <a:rPr lang="ru-RU" dirty="0"/>
              <a:t>а дальнейшее изменение происходит по средствам </a:t>
            </a:r>
            <a:r>
              <a:rPr lang="en-US" dirty="0"/>
              <a:t>JS</a:t>
            </a:r>
            <a:r>
              <a:rPr lang="ru-RU" dirty="0"/>
              <a:t> в зависимости от данных и событий.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HTML-оболочка — минимальная разметка с корневым контейнером (&lt;</a:t>
            </a:r>
            <a:r>
              <a:rPr lang="ru-RU" dirty="0" err="1"/>
              <a:t>div</a:t>
            </a:r>
            <a:r>
              <a:rPr lang="ru-RU" dirty="0"/>
              <a:t> </a:t>
            </a:r>
            <a:r>
              <a:rPr lang="ru-RU" dirty="0" err="1"/>
              <a:t>id</a:t>
            </a:r>
            <a:r>
              <a:rPr lang="ru-RU" dirty="0"/>
              <a:t>="</a:t>
            </a:r>
            <a:r>
              <a:rPr lang="ru-RU" dirty="0" err="1"/>
              <a:t>app</a:t>
            </a:r>
            <a:r>
              <a:rPr lang="ru-RU" dirty="0"/>
              <a:t>"&gt;&lt;/</a:t>
            </a:r>
            <a:r>
              <a:rPr lang="ru-RU" dirty="0" err="1"/>
              <a:t>div</a:t>
            </a:r>
            <a:r>
              <a:rPr lang="ru-RU" dirty="0"/>
              <a:t>&gt;)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JavaScript-</a:t>
            </a:r>
            <a:r>
              <a:rPr lang="ru-RU" dirty="0" err="1"/>
              <a:t>бандл</a:t>
            </a:r>
            <a:r>
              <a:rPr lang="ru-RU" dirty="0"/>
              <a:t> — весь код приложения: фреймворк, компоненты, маршрутизатор, бизнес-логика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CSS-стили — один или несколько файлов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9BDF47-3E04-4C6A-A70F-2A3A0750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13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551D7-C4CB-4DCA-A575-8C7DEBD5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Главные моменты </a:t>
            </a:r>
            <a:r>
              <a:rPr lang="en-US" dirty="0"/>
              <a:t>SPA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8D5F33-5E81-4FB1-8B67-5F23C66FC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Маршрутизация — JavaScript-роутер перехватывает клики по ссылкам и меняет URL без перезагрузки</a:t>
            </a:r>
          </a:p>
          <a:p>
            <a:endParaRPr lang="ru-RU" dirty="0"/>
          </a:p>
          <a:p>
            <a:r>
              <a:rPr lang="ru-RU" dirty="0"/>
              <a:t>Загрузка данных — запросы к API (обычно REST через </a:t>
            </a:r>
            <a:r>
              <a:rPr lang="ru-RU" dirty="0" err="1"/>
              <a:t>fetch</a:t>
            </a:r>
            <a:r>
              <a:rPr lang="ru-RU" dirty="0"/>
              <a:t>/</a:t>
            </a:r>
            <a:r>
              <a:rPr lang="ru-RU" dirty="0" err="1"/>
              <a:t>axios</a:t>
            </a:r>
            <a:r>
              <a:rPr lang="ru-RU" dirty="0"/>
              <a:t>) за данными, а не за HTML</a:t>
            </a:r>
          </a:p>
          <a:p>
            <a:endParaRPr lang="ru-RU" dirty="0"/>
          </a:p>
          <a:p>
            <a:r>
              <a:rPr lang="ru-RU" dirty="0"/>
              <a:t>Перерисовка — фреймворк (</a:t>
            </a:r>
            <a:r>
              <a:rPr lang="ru-RU" dirty="0" err="1"/>
              <a:t>Vue</a:t>
            </a:r>
            <a:r>
              <a:rPr lang="ru-RU" dirty="0"/>
              <a:t>,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Angular</a:t>
            </a:r>
            <a:r>
              <a:rPr lang="ru-RU" dirty="0"/>
              <a:t>) обновляет только изменившиеся части DOM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77C7F5-BA28-4A3A-BE5A-A277FDA5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02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5BE8A-885A-4B9A-A0E4-57A5989CA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2CACB0-29E3-4D55-9FB2-DE2644DD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Multi-page application – </a:t>
            </a:r>
            <a:r>
              <a:rPr lang="ru-RU" dirty="0"/>
              <a:t>определение зависит от момента времени.</a:t>
            </a:r>
          </a:p>
          <a:p>
            <a:r>
              <a:rPr lang="ru-RU" dirty="0"/>
              <a:t>В 2010х и начале 20х – классический сайт, где каждая страница загружается отдельно (</a:t>
            </a:r>
            <a:r>
              <a:rPr lang="en-US" dirty="0"/>
              <a:t>HTML, CSS, JS</a:t>
            </a:r>
            <a:r>
              <a:rPr lang="ru-RU" dirty="0"/>
              <a:t>)</a:t>
            </a:r>
            <a:r>
              <a:rPr lang="en-US" dirty="0"/>
              <a:t>.</a:t>
            </a:r>
          </a:p>
          <a:p>
            <a:r>
              <a:rPr lang="ru-RU" dirty="0"/>
              <a:t>На данный момент под </a:t>
            </a:r>
            <a:r>
              <a:rPr lang="en-US" dirty="0"/>
              <a:t>MPA </a:t>
            </a:r>
            <a:r>
              <a:rPr lang="ru-RU" dirty="0"/>
              <a:t>может быть так же набор </a:t>
            </a:r>
            <a:r>
              <a:rPr lang="en-US" dirty="0"/>
              <a:t>SPA, </a:t>
            </a:r>
            <a:r>
              <a:rPr lang="ru-RU" dirty="0"/>
              <a:t>где каждая отвечает за свою предметную область. К этому же можно отнести микро-</a:t>
            </a:r>
            <a:r>
              <a:rPr lang="ru-RU" dirty="0" err="1"/>
              <a:t>фронтенд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CBBA3C-8BFD-4646-835E-A603C2BE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20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F85C7-D709-4664-9A44-8C5DB5EF1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SPA vs. Classic MPA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161F9A0-DC9D-4399-80E1-09A2A4D6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819835"/>
              </p:ext>
            </p:extLst>
          </p:nvPr>
        </p:nvGraphicFramePr>
        <p:xfrm>
          <a:off x="838200" y="1825625"/>
          <a:ext cx="10515597" cy="3754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494281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161726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076478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 MPA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23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Загрузка страниц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HTML, дальше 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Каждый переход — новый HTML с сервера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44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Скорость отклика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Быстрый (нет перезагрузок)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Медленнее (каждый переход —загрузка)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06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Первая загрузка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Тяжелее (нужно загрузить весь JS)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Легче (только текущая страница)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45480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SEO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Требует SSR/SSG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Из коробки хороший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6614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Сложность разработки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Выше (нужен фреймворк)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Ниже (серверный рендеринг)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38227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Богатство интерфейса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Высокое (как настольное приложение)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Ограниченное (каждая форма — отдельная страница)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44418111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68432F-6B97-4B8B-9EE8-2AB3C1DF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548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50356-C0A8-4992-A4DC-A1F4F6C9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выбирать </a:t>
            </a:r>
            <a:r>
              <a:rPr lang="en-US" dirty="0"/>
              <a:t>SPA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94793-29A6-4B9D-8B8B-AE9D8E0F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Выбираем, если:</a:t>
            </a:r>
          </a:p>
          <a:p>
            <a:r>
              <a:rPr lang="ru-RU" sz="1800" dirty="0"/>
              <a:t>Приложение — это инструмент, а не контент (</a:t>
            </a:r>
            <a:r>
              <a:rPr lang="ru-RU" sz="1800" dirty="0" err="1"/>
              <a:t>дашборды</a:t>
            </a:r>
            <a:r>
              <a:rPr lang="ru-RU" sz="1800" dirty="0"/>
              <a:t>, редакторы, CRM)</a:t>
            </a:r>
          </a:p>
          <a:p>
            <a:r>
              <a:rPr lang="ru-RU" sz="1800" dirty="0"/>
              <a:t>Нужен сложный интерактивный интерфейс (</a:t>
            </a:r>
            <a:r>
              <a:rPr lang="ru-RU" sz="1800" dirty="0" err="1"/>
              <a:t>drag-and-drop</a:t>
            </a:r>
            <a:r>
              <a:rPr lang="ru-RU" sz="1800" dirty="0"/>
              <a:t>, модальные окна, обновления в реальном времени)</a:t>
            </a:r>
          </a:p>
          <a:p>
            <a:r>
              <a:rPr lang="ru-RU" sz="1800" dirty="0"/>
              <a:t>Команда готова использовать фреймворк (</a:t>
            </a:r>
            <a:r>
              <a:rPr lang="ru-RU" sz="1800" dirty="0" err="1"/>
              <a:t>Vue</a:t>
            </a:r>
            <a:r>
              <a:rPr lang="ru-RU" sz="1800" dirty="0"/>
              <a:t>, </a:t>
            </a:r>
            <a:r>
              <a:rPr lang="ru-RU" sz="1800" dirty="0" err="1"/>
              <a:t>React</a:t>
            </a:r>
            <a:r>
              <a:rPr lang="ru-RU" sz="1800" dirty="0"/>
              <a:t>, </a:t>
            </a:r>
            <a:r>
              <a:rPr lang="ru-RU" sz="1800" dirty="0" err="1"/>
              <a:t>Angular</a:t>
            </a:r>
            <a:r>
              <a:rPr lang="ru-RU" sz="1800" dirty="0"/>
              <a:t>)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dirty="0"/>
              <a:t>Не выбираем, если: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Helvetica Neue"/>
              </a:rPr>
              <a:t>Сайт контентный (блог, новости, </a:t>
            </a:r>
            <a:r>
              <a:rPr lang="ru-RU" sz="1800" b="0" i="0" dirty="0" err="1">
                <a:solidFill>
                  <a:srgbClr val="333333"/>
                </a:solidFill>
                <a:effectLst/>
                <a:latin typeface="Helvetica Neue"/>
              </a:rPr>
              <a:t>лендинг</a:t>
            </a:r>
            <a:r>
              <a:rPr lang="ru-RU" sz="1800" b="0" i="0" dirty="0">
                <a:solidFill>
                  <a:srgbClr val="333333"/>
                </a:solidFill>
                <a:effectLst/>
                <a:latin typeface="Helvetica Neue"/>
              </a:rPr>
              <a:t>) — важен SEO и быстрая первая загрузка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Helvetica Neue"/>
              </a:rPr>
              <a:t>Команда не знает фреймворков и проект простой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333333"/>
                </a:solidFill>
                <a:effectLst/>
                <a:latin typeface="Helvetica Neue"/>
              </a:rPr>
              <a:t>Нужна максимальная доступность без JavaScript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4DE11A-1D5B-4812-A958-44D40996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82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EDB997-3139-4307-8188-05E48883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SPA диктует три требования к архитектуре: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CCF0C6-10C2-433F-B2BE-2710ABE00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Клиентская маршрутизация — нужен роутер, который связывает URL с компонентами (</a:t>
            </a:r>
            <a:r>
              <a:rPr lang="ru-RU" dirty="0" err="1"/>
              <a:t>Vue</a:t>
            </a:r>
            <a:r>
              <a:rPr lang="ru-RU" dirty="0"/>
              <a:t> </a:t>
            </a:r>
            <a:r>
              <a:rPr lang="ru-RU" dirty="0" err="1"/>
              <a:t>Router</a:t>
            </a:r>
            <a:r>
              <a:rPr lang="ru-RU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Управление состоянием — данные живут в памяти браузера, нужно централизованное хранилище (</a:t>
            </a:r>
            <a:r>
              <a:rPr lang="ru-RU" dirty="0" err="1"/>
              <a:t>Pinia</a:t>
            </a:r>
            <a:r>
              <a:rPr lang="ru-RU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Разделение кода — когда весь код в одном </a:t>
            </a:r>
            <a:r>
              <a:rPr lang="ru-RU" dirty="0" err="1"/>
              <a:t>бандле</a:t>
            </a:r>
            <a:r>
              <a:rPr lang="ru-RU" dirty="0"/>
              <a:t>, он становится неуправляемым; нужны слои и модули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4AD1D3-3412-42F5-A323-31009643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56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5C93B-E5F7-4333-9C0D-2C84994F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en-US" dirty="0"/>
              <a:t>MVC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D2E06-A2C9-4569-8FF8-D511D4D3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Появился в ЯП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Smalltalk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ru-RU" dirty="0">
                <a:solidFill>
                  <a:srgbClr val="333333"/>
                </a:solidFill>
                <a:latin typeface="Helvetica Neue"/>
              </a:rPr>
              <a:t>в 1979. Обладает следующими аспектами:</a:t>
            </a:r>
          </a:p>
          <a:p>
            <a:r>
              <a:rPr lang="ru-RU" dirty="0"/>
              <a:t>Model (модель) — данные и бизнес-логика. Модель знает всё о предметной области, но ничего не знает об интерфейсе.</a:t>
            </a:r>
          </a:p>
          <a:p>
            <a:r>
              <a:rPr lang="ru-RU" dirty="0"/>
              <a:t>View (представление) — то, что видит пользователь: кнопки, формы, текст. View пассивно — не принимает решений, только отображает.</a:t>
            </a:r>
          </a:p>
          <a:p>
            <a:r>
              <a:rPr lang="ru-RU" dirty="0" err="1"/>
              <a:t>Controller</a:t>
            </a:r>
            <a:r>
              <a:rPr lang="ru-RU" dirty="0"/>
              <a:t> (контроллер) — посредник: принимает ввод от пользователя, обрабатывает его (или делегирует модели), обновляет View.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1D9583-E90A-42F8-B696-E716C19C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162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8E844-7773-4E64-9E0B-7A6501D2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F8870A-9DE0-4350-821A-836DFAEA8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53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Пользователь кликает кнопку → </a:t>
            </a:r>
            <a:r>
              <a:rPr lang="en-US" dirty="0"/>
              <a:t>Controller </a:t>
            </a:r>
            <a:r>
              <a:rPr lang="ru-RU" dirty="0"/>
              <a:t>получает событие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Controller </a:t>
            </a:r>
            <a:r>
              <a:rPr lang="ru-RU" dirty="0"/>
              <a:t>обновляет </a:t>
            </a:r>
            <a:r>
              <a:rPr lang="en-US" dirty="0"/>
              <a:t>Model (</a:t>
            </a:r>
            <a:r>
              <a:rPr lang="ru-RU" dirty="0"/>
              <a:t>например, сохраняет задачу)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 </a:t>
            </a:r>
            <a:r>
              <a:rPr lang="ru-RU" dirty="0"/>
              <a:t>уведомляет </a:t>
            </a:r>
            <a:r>
              <a:rPr lang="en-US" dirty="0"/>
              <a:t>View </a:t>
            </a:r>
            <a:r>
              <a:rPr lang="ru-RU" dirty="0"/>
              <a:t>об изменении → </a:t>
            </a:r>
            <a:r>
              <a:rPr lang="en-US" dirty="0"/>
              <a:t>View </a:t>
            </a:r>
            <a:r>
              <a:rPr lang="ru-RU" dirty="0"/>
              <a:t>перерисовывается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D2215C-AC1D-43E3-98C5-F318135B9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50" y="1690688"/>
            <a:ext cx="3632200" cy="4415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675E10CC-CCF7-42A3-B0A4-34362811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72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8479A62-01F1-40A2-8B1B-C7C8838AB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450"/>
            <a:ext cx="5257800" cy="5878513"/>
          </a:xfrm>
          <a:solidFill>
            <a:schemeClr val="tx1"/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Model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= [];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done: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notify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View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TaskView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отрисовка списка задач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6F73904-CCB8-40A5-8002-414CE21B18A2}"/>
              </a:ext>
            </a:extLst>
          </p:cNvPr>
          <p:cNvSpPr txBox="1">
            <a:spLocks/>
          </p:cNvSpPr>
          <p:nvPr/>
        </p:nvSpPr>
        <p:spPr>
          <a:xfrm>
            <a:off x="6096000" y="298450"/>
            <a:ext cx="5257800" cy="587851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Controller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TaskController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TaskModel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TaskView</a:t>
            </a:r>
            <a:endParaRPr lang="ru-RU" b="0" dirty="0">
              <a:solidFill>
                <a:srgbClr val="4EC9B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'change'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onAddButtonClick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BE2B83-5502-4E8F-9713-8B24FB05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45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279FB-42E9-40F8-9DA8-E04D30A9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 </a:t>
            </a:r>
            <a:r>
              <a:rPr lang="en-US" dirty="0"/>
              <a:t>MVVM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F8CCD0-9583-4295-B83E-547F92B0F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Microsoft, WPF, 2005 </a:t>
            </a:r>
            <a:r>
              <a:rPr lang="ru-RU" dirty="0"/>
              <a:t>год.</a:t>
            </a:r>
          </a:p>
          <a:p>
            <a:r>
              <a:rPr lang="ru-RU" dirty="0"/>
              <a:t>Model (модель) — данные и бизнес-логика (как в MVC)</a:t>
            </a:r>
          </a:p>
          <a:p>
            <a:r>
              <a:rPr lang="ru-RU" dirty="0"/>
              <a:t>View (представление) — разметка и стили (как в MVC)</a:t>
            </a:r>
          </a:p>
          <a:p>
            <a:r>
              <a:rPr lang="ru-RU" dirty="0" err="1"/>
              <a:t>ViewModel</a:t>
            </a:r>
            <a:r>
              <a:rPr lang="ru-RU" dirty="0"/>
              <a:t> (модель представления) — активный посредник: хранит состояние View, реагирует на действия пользователя, автоматически синхронизируется с Model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514209-606A-4079-A1BB-65DAA309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65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24FF7-C77C-4C38-A4DF-AB7A09D0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Чем дополняет </a:t>
            </a:r>
            <a:r>
              <a:rPr lang="en-US" dirty="0"/>
              <a:t>MVC?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238272-0C10-457A-880A-4B541D158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ViewModel</a:t>
            </a:r>
            <a:r>
              <a:rPr lang="ru-RU" dirty="0"/>
              <a:t> не просто передаёт данные — она </a:t>
            </a:r>
            <a:r>
              <a:rPr lang="ru-RU" dirty="0" err="1"/>
              <a:t>реактивна</a:t>
            </a:r>
            <a:r>
              <a:rPr lang="ru-RU" dirty="0"/>
              <a:t>. Изменение в Model автоматически обновляет </a:t>
            </a:r>
            <a:r>
              <a:rPr lang="ru-RU" dirty="0" err="1"/>
              <a:t>ViewModel</a:t>
            </a:r>
            <a:r>
              <a:rPr lang="ru-RU" dirty="0"/>
              <a:t>, а та — View. И наоборот: действия во View (клик, ввод) автоматически вызывают методы </a:t>
            </a:r>
            <a:r>
              <a:rPr lang="ru-RU" dirty="0" err="1"/>
              <a:t>ViewModel</a:t>
            </a:r>
            <a:r>
              <a:rPr lang="ru-RU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F8739C0-B8FC-43BE-B63D-D36C62F79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100" y="3493753"/>
            <a:ext cx="6978650" cy="2683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2E3B72-4B10-41C0-AC8E-868CCF74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475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D3485-69EA-44CA-92AD-55553B99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MVC </a:t>
            </a:r>
            <a:r>
              <a:rPr lang="ru-RU" dirty="0"/>
              <a:t>и </a:t>
            </a:r>
            <a:r>
              <a:rPr lang="en-US" dirty="0"/>
              <a:t>MVVM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EFF9A191-1B81-4E67-9F9B-A3D0CA86C4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654915"/>
              </p:ext>
            </p:extLst>
          </p:nvPr>
        </p:nvGraphicFramePr>
        <p:xfrm>
          <a:off x="838200" y="1825625"/>
          <a:ext cx="10515597" cy="4091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225794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57756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76008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rgbClr val="000000"/>
                          </a:solidFill>
                          <a:effectLst/>
                        </a:rPr>
                        <a:t>Аспект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000000"/>
                          </a:solidFill>
                          <a:effectLst/>
                        </a:rPr>
                        <a:t>MVC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MVVM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084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Роль посредника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Controller (</a:t>
                      </a:r>
                      <a:r>
                        <a:rPr lang="ru-RU">
                          <a:effectLst/>
                        </a:rPr>
                        <a:t>пассивный, обрабатывает события)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ViewModel</a:t>
                      </a:r>
                      <a:r>
                        <a:rPr lang="en-US" dirty="0">
                          <a:effectLst/>
                        </a:rPr>
                        <a:t> (</a:t>
                      </a:r>
                      <a:r>
                        <a:rPr lang="ru-RU" dirty="0">
                          <a:effectLst/>
                        </a:rPr>
                        <a:t>активный, реактивный)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46754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Связь </a:t>
                      </a:r>
                      <a:r>
                        <a:rPr lang="en-US" dirty="0">
                          <a:effectLst/>
                        </a:rPr>
                        <a:t>View ↔ Model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Через </a:t>
                      </a:r>
                      <a:r>
                        <a:rPr lang="en-US">
                          <a:effectLst/>
                        </a:rPr>
                        <a:t>Controller, </a:t>
                      </a:r>
                      <a:r>
                        <a:rPr lang="ru-RU">
                          <a:effectLst/>
                        </a:rPr>
                        <a:t>ручное обновление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Автоматическая синхронизация (</a:t>
                      </a:r>
                      <a:r>
                        <a:rPr lang="en-US" dirty="0">
                          <a:effectLst/>
                        </a:rPr>
                        <a:t>data binding)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0057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Обновление </a:t>
                      </a:r>
                      <a:r>
                        <a:rPr lang="en-US" dirty="0">
                          <a:effectLst/>
                        </a:rPr>
                        <a:t>View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Явное (</a:t>
                      </a:r>
                      <a:r>
                        <a:rPr lang="en-US">
                          <a:effectLst/>
                        </a:rPr>
                        <a:t>Controller </a:t>
                      </a:r>
                      <a:r>
                        <a:rPr lang="ru-RU">
                          <a:effectLst/>
                        </a:rPr>
                        <a:t>вызывает </a:t>
                      </a:r>
                      <a:r>
                        <a:rPr lang="en-US">
                          <a:effectLst/>
                        </a:rPr>
                        <a:t>render)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Неявное (реактивность)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87691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Тестируемость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Controller тестируется с моками View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effectLst/>
                        </a:rPr>
                        <a:t>ViewModel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ru-RU" dirty="0">
                          <a:effectLst/>
                        </a:rPr>
                        <a:t>тестируется без </a:t>
                      </a:r>
                      <a:r>
                        <a:rPr lang="en-US" dirty="0">
                          <a:effectLst/>
                        </a:rPr>
                        <a:t>View (</a:t>
                      </a:r>
                      <a:r>
                        <a:rPr lang="ru-RU" dirty="0">
                          <a:effectLst/>
                        </a:rPr>
                        <a:t>чистый </a:t>
                      </a:r>
                      <a:r>
                        <a:rPr lang="en-US" dirty="0">
                          <a:effectLst/>
                        </a:rPr>
                        <a:t>TypeScript)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54279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Сложность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Ниже (понятный поток данных)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Выше (нужно понимать реактивность)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465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Область применения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Бэкенд, классический веб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Современные </a:t>
                      </a:r>
                      <a:r>
                        <a:rPr lang="en-US" dirty="0">
                          <a:effectLst/>
                        </a:rPr>
                        <a:t>SPA-</a:t>
                      </a:r>
                      <a:r>
                        <a:rPr lang="ru-RU" dirty="0">
                          <a:effectLst/>
                        </a:rPr>
                        <a:t>фреймворки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50305956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971DBA-51BE-4253-8CE4-1DEADC38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11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8066C-E809-4BD1-B9C4-4AFC9749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Декларативный </a:t>
            </a:r>
            <a:r>
              <a:rPr lang="en-US" dirty="0"/>
              <a:t>vs. </a:t>
            </a:r>
            <a:r>
              <a:rPr lang="ru-RU" dirty="0"/>
              <a:t>императивный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BA64D0-9120-4C8E-86C6-254CAB6E7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68825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'Inserted {} text'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'{'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!=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'}'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'some words’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'some words'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`Inserted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text`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73CAD6-16EB-4585-AD0D-19DE92C2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D89BF-8AE1-43F3-8FAC-E387FD99888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3675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928</Words>
  <Application>Microsoft Office PowerPoint</Application>
  <PresentationFormat>Широкоэкранный</PresentationFormat>
  <Paragraphs>145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Helvetica Neue</vt:lpstr>
      <vt:lpstr>Тема Office</vt:lpstr>
      <vt:lpstr>Тема 6. Архитектура программного обеспечения</vt:lpstr>
      <vt:lpstr>SPA</vt:lpstr>
      <vt:lpstr>Главные моменты SPA</vt:lpstr>
      <vt:lpstr>MPA</vt:lpstr>
      <vt:lpstr>Сравнение SPA vs. Classic MPA</vt:lpstr>
      <vt:lpstr>Когда выбирать SPA</vt:lpstr>
      <vt:lpstr>SPA диктует три требования к архитектуре:</vt:lpstr>
      <vt:lpstr>Паттерн MVC</vt:lpstr>
      <vt:lpstr>Workflow</vt:lpstr>
      <vt:lpstr>Презентация PowerPoint</vt:lpstr>
      <vt:lpstr>Паттерн MVVM</vt:lpstr>
      <vt:lpstr>Чем дополняет MVC?</vt:lpstr>
      <vt:lpstr>Сравнение MVC и MVVM</vt:lpstr>
      <vt:lpstr>Декларативный vs. императивный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6. Архитектура программного обеспечения</dc:title>
  <dc:creator>Nikita A. Shuklin</dc:creator>
  <cp:lastModifiedBy>Nikita A. Shuklin</cp:lastModifiedBy>
  <cp:revision>14</cp:revision>
  <dcterms:created xsi:type="dcterms:W3CDTF">2026-10-05T05:07:31Z</dcterms:created>
  <dcterms:modified xsi:type="dcterms:W3CDTF">2026-10-05T08:22:43Z</dcterms:modified>
</cp:coreProperties>
</file>