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  <p:sldId id="272" r:id="rId19"/>
    <p:sldId id="273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5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7630F8-1675-4A49-A0DA-B4B36FE4BEE8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ACAE81-F24D-4717-BE47-46E2301339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6776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0CA24B-9C13-4229-8D38-B6D3912025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3E5FA18-B189-4C80-89F0-6DEE9AA240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CF7725C-E6BE-4A3B-B3B4-475CFEA1E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DB913-7CB5-4F50-8524-4646AFB52827}" type="datetime1">
              <a:rPr lang="ru-RU" smtClean="0"/>
              <a:t>22.09.2026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68DE38-4D4C-40D2-93E3-D1AB88CC3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82E5C5-87C8-4DB9-803E-3BF7C670D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C1767-054D-4D37-A473-AD105C84E4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1563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C512AB-21F4-40C3-811A-7FEA4F06A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0F6A28-7323-4058-9926-66D38ADDD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822736-208B-4241-91C3-A63412A7A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AE605-7664-4836-85FC-1007FD98FFCF}" type="datetime1">
              <a:rPr lang="ru-RU" smtClean="0"/>
              <a:t>22.09.2026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3F288CE-5770-49A1-ADB9-18F24143D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08BF8F5-4624-4F60-BAC6-E946E2B3D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C1767-054D-4D37-A473-AD105C84E4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641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B9DEDF-1783-45A4-B620-C8D2E2BFD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29CDF1F-F2C6-45E5-9790-B1AFC4B504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CDBAB7C-B125-470B-98C0-2DED999DB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6E345-97B7-4EAA-9B65-158827A707BB}" type="datetime1">
              <a:rPr lang="ru-RU" smtClean="0"/>
              <a:t>22.09.2026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85209D-8A2D-40C6-8034-291E1FED4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937DAE-B9C2-44F5-BB3C-62A6C78C4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C1767-054D-4D37-A473-AD105C84E4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7153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3A6D59-F75F-4035-889D-39A58D94E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ADDDF9-BC72-4D0C-B43A-D239542B21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81F4E92-FF13-49F4-A2DD-D73222AB81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9EC9490-7E6A-4359-815C-F9641B7E3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E4526-2AF6-4A7C-8DCF-DDBF14FC9F00}" type="datetime1">
              <a:rPr lang="ru-RU" smtClean="0"/>
              <a:t>22.09.2026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9299433-5928-4540-B85A-272BB2070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0CEBBE4-3849-454C-8981-F369C3754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C1767-054D-4D37-A473-AD105C84E4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7243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D75050-99A7-400D-9B50-D155740D1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D2D44E7-883F-4A7F-8BBE-797071196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7884071-F685-4AB0-A5FD-E6369BAAF3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BA4F827-9E12-47FC-A4F4-404C56B41E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29DAB98-1F15-412F-893C-1EDBAEF55F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845D3BE-D23A-49BD-933F-4E9BFF3A3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4C18B-4EEE-4D97-AE96-011C3A459068}" type="datetime1">
              <a:rPr lang="ru-RU" smtClean="0"/>
              <a:t>22.09.2026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AA9453F-6B97-4348-9966-2CFBEF0E3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C327469-9A11-44B4-8AF5-BD7093027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C1767-054D-4D37-A473-AD105C84E4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6716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33C408-35F2-4B97-8DC8-F92087E1D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6D348A1-FD56-4FB3-BDEC-85F323FE2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AE66B-7691-450A-98AC-2AD542071730}" type="datetime1">
              <a:rPr lang="ru-RU" smtClean="0"/>
              <a:t>22.09.2026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862FC7E-830C-43EB-A7E6-E9A9AF59C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C4118F2-764A-4DB2-906F-59D9D3F5C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C1767-054D-4D37-A473-AD105C84E4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8489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F97155C-F5B6-4443-A62A-7486BCB95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CB4F-B62C-458E-99D9-8018C8195957}" type="datetime1">
              <a:rPr lang="ru-RU" smtClean="0"/>
              <a:t>22.09.2026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98F052F-CB22-46CC-97A2-2D2C79E3C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DF3C593-C4F3-4469-AEE2-0F658F9D1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C1767-054D-4D37-A473-AD105C84E4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6785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979FDB-E70F-446B-9EF4-E25B9F7D8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48D77D-B7F3-4392-B1C4-9D56A8AF4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37E0EEC-D02E-42F2-9E5D-D29176F496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176F0FA-6CEF-47D2-A2F6-0DE73FE60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BE914-C0C0-4377-B522-8F1660E9717C}" type="datetime1">
              <a:rPr lang="ru-RU" smtClean="0"/>
              <a:t>22.09.2026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FA960F2-55A7-4AE2-B7D0-F8F23BB59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F50A21A-F58A-488A-A9E1-DE817D516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C1767-054D-4D37-A473-AD105C84E4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58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B0BBDB-FF67-4B0A-BA18-AB00C0064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BD998D3-B81B-49D2-8145-A7AB89FCFB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3DC39A2-9DC5-4234-BE7F-F1517E57A3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B2CADDB-3530-4584-BBF2-A4F1FB5C7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D39C2-FD85-40D5-9736-BE25CADBDA66}" type="datetime1">
              <a:rPr lang="ru-RU" smtClean="0"/>
              <a:t>22.09.2026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69CF670-F2B1-4B74-BD80-EF38FC7F0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3AE2E9-C09E-47AC-B995-3AC423E66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C1767-054D-4D37-A473-AD105C84E4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9510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99C541-AC88-43D6-8F3D-47A73E979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49FFFA0-CFFA-48EB-8A60-DC547FF7A2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EAC8FE-1050-4469-95E1-93FD5ECC5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5653B-A08C-431F-B25F-54AEF21FC5F8}" type="datetime1">
              <a:rPr lang="ru-RU" smtClean="0"/>
              <a:t>22.09.2026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4ECAE2-1A13-40C2-880E-4858ADA8F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996A55-2FC7-45ED-BED5-53D9F2F8A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C1767-054D-4D37-A473-AD105C84E4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1869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1218F6B-E72F-4838-981B-1B8B47FCEC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EA7B807-523C-4D05-BC1A-AA300A75EC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C26177-3647-491B-B839-9A71AA6F6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529E5-4A1A-4064-816B-253FD874B48F}" type="datetime1">
              <a:rPr lang="ru-RU" smtClean="0"/>
              <a:t>22.09.2026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95FCEB-76D5-4EBA-874B-6AD95FCBC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2F102A-396D-44FF-9ADC-64683C662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C1767-054D-4D37-A473-AD105C84E4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7906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37806B-67AC-425E-91DD-F8FE5AEB7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DDBBB89-C431-4CC0-8562-5EA69C8EF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D19D2DA-8A91-40D3-BDCC-8430C832C4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CD206F-217E-42EA-B901-A1F7DECF4034}" type="datetime1">
              <a:rPr lang="ru-RU" smtClean="0"/>
              <a:t>22.09.2026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181899-7F39-4AC2-A6F9-761126CDC1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3023A0-6857-44C6-819A-764314A651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6C1767-054D-4D37-A473-AD105C84E4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8380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ypescriptlang.org/" TargetMode="External"/><Relationship Id="rId2" Type="http://schemas.openxmlformats.org/officeDocument/2006/relationships/hyperlink" Target="https://nshuklin.github.io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hyperlink" Target="https://www.typescriptlang.org/play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B65B85-6031-4DEA-BF71-FD698A53EC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Тема 4. </a:t>
            </a:r>
            <a:r>
              <a:rPr lang="en-US" dirty="0"/>
              <a:t>TypeScript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D04A588-958C-4147-9FEA-44751F536E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Как в нестрого типизированный язык добавить типизации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57E064E-719F-4C74-84C4-8778BC503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C1767-054D-4D37-A473-AD105C84E435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7114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89D693-6C9D-4FAE-A0EB-CC5945E69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 нужна типизация?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112B33-0083-4451-9155-D3E2A414A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Типизация делает код более читаемым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Типизация – первый шаг к поиску ошибок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Типизация делает код более предсказуемым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Типизация помогает </a:t>
            </a:r>
            <a:r>
              <a:rPr lang="en-US" dirty="0"/>
              <a:t>IDE </a:t>
            </a:r>
            <a:r>
              <a:rPr lang="ru-RU" dirty="0"/>
              <a:t>помогать нам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Типизация – де-факто стандарт в средних и больших проектах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8FB3FA-F37A-4588-80D7-CB97B752F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C1767-054D-4D37-A473-AD105C84E435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5105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5C5E66-FF38-4575-A756-7B90BB9BC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Способы типизировать </a:t>
            </a:r>
            <a:r>
              <a:rPr lang="en-US" dirty="0"/>
              <a:t>JS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369634-B66B-4DC3-957C-50ED8646E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550" y="1825625"/>
            <a:ext cx="10515600" cy="4351338"/>
          </a:xfrm>
        </p:spPr>
        <p:txBody>
          <a:bodyPr/>
          <a:lstStyle/>
          <a:p>
            <a:r>
              <a:rPr lang="en-US" dirty="0"/>
              <a:t>JScript (Microsoft 2001)</a:t>
            </a:r>
          </a:p>
          <a:p>
            <a:r>
              <a:rPr lang="en-US" dirty="0"/>
              <a:t>Flow (Meta*)</a:t>
            </a:r>
          </a:p>
          <a:p>
            <a:r>
              <a:rPr lang="en-US" dirty="0"/>
              <a:t>TypeScript (Microsoft)</a:t>
            </a:r>
          </a:p>
          <a:p>
            <a:r>
              <a:rPr lang="en-US" dirty="0" err="1"/>
              <a:t>JSDoc</a:t>
            </a:r>
            <a:r>
              <a:rPr lang="ru-RU" dirty="0"/>
              <a:t> (</a:t>
            </a:r>
            <a:r>
              <a:rPr lang="en-US" dirty="0" err="1"/>
              <a:t>OpenSource</a:t>
            </a:r>
            <a:r>
              <a:rPr lang="ru-RU" dirty="0"/>
              <a:t>)</a:t>
            </a:r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1246CDE-9FC1-4C49-B756-0720DA249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C1767-054D-4D37-A473-AD105C84E435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2391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83C5B9-00BC-4EC4-A6BA-43EA8E2C6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TypeScript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4413BC-1676-4D75-BA55-AE15926D6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TypeScript</a:t>
            </a:r>
            <a:r>
              <a:rPr lang="ru-RU" dirty="0"/>
              <a:t> (TS) —надмножество</a:t>
            </a:r>
            <a:r>
              <a:rPr lang="en-US" dirty="0"/>
              <a:t> </a:t>
            </a:r>
            <a:r>
              <a:rPr lang="ru-RU" dirty="0"/>
              <a:t>над JavaScript со статической типизацией.</a:t>
            </a:r>
            <a:endParaRPr lang="en-US" dirty="0"/>
          </a:p>
          <a:p>
            <a:endParaRPr lang="ru-RU" dirty="0"/>
          </a:p>
          <a:p>
            <a:r>
              <a:rPr lang="ru-RU" dirty="0" err="1"/>
              <a:t>TypeScript</a:t>
            </a:r>
            <a:r>
              <a:rPr lang="ru-RU" dirty="0"/>
              <a:t> добавляет систему типов, которая проверяет код «на этапе компиляции».</a:t>
            </a:r>
            <a:endParaRPr lang="en-US" dirty="0"/>
          </a:p>
          <a:p>
            <a:endParaRPr lang="ru-RU" dirty="0"/>
          </a:p>
          <a:p>
            <a:r>
              <a:rPr lang="ru-RU" dirty="0"/>
              <a:t>Любой корректный JS-код является корректным TS-кодом.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F45A6DD-948E-43A1-A310-064553771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C1767-054D-4D37-A473-AD105C84E435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9227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461ED10C-2D17-42F6-B933-EBF557A6A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17550"/>
            <a:ext cx="10515600" cy="5459413"/>
          </a:xfrm>
        </p:spPr>
        <p:txBody>
          <a:bodyPr/>
          <a:lstStyle/>
          <a:p>
            <a:pPr marL="0" indent="0">
              <a:buNone/>
            </a:pPr>
            <a:r>
              <a:rPr lang="ru-RU" dirty="0" err="1"/>
              <a:t>Хейлсберг</a:t>
            </a:r>
            <a:r>
              <a:rPr lang="ru-RU" dirty="0"/>
              <a:t> Андерс</a:t>
            </a:r>
            <a:r>
              <a:rPr lang="en-US" dirty="0"/>
              <a:t> – </a:t>
            </a:r>
            <a:r>
              <a:rPr lang="ru-RU" dirty="0"/>
              <a:t>датский инженер-программист. Автор: </a:t>
            </a:r>
            <a:r>
              <a:rPr lang="en-US" dirty="0"/>
              <a:t>Turbo Pascal, Delphi, C# </a:t>
            </a:r>
            <a:r>
              <a:rPr lang="ru-RU" dirty="0"/>
              <a:t>и </a:t>
            </a:r>
            <a:r>
              <a:rPr lang="en-US" dirty="0"/>
              <a:t>TypeScript.</a:t>
            </a:r>
          </a:p>
          <a:p>
            <a:pPr marL="0" indent="0">
              <a:buNone/>
            </a:pPr>
            <a:r>
              <a:rPr lang="ru-RU" dirty="0"/>
              <a:t>В 1996 пришёл работать в </a:t>
            </a:r>
            <a:r>
              <a:rPr lang="en-US" dirty="0"/>
              <a:t>Microsoft </a:t>
            </a:r>
            <a:r>
              <a:rPr lang="ru-RU" dirty="0"/>
              <a:t>над</a:t>
            </a:r>
          </a:p>
          <a:p>
            <a:pPr marL="0" indent="0">
              <a:buNone/>
            </a:pPr>
            <a:r>
              <a:rPr lang="ru-RU" dirty="0"/>
              <a:t>проектом </a:t>
            </a:r>
            <a:r>
              <a:rPr lang="en-US" dirty="0"/>
              <a:t>J++</a:t>
            </a:r>
            <a:r>
              <a:rPr lang="ru-RU" dirty="0"/>
              <a:t> (реализация </a:t>
            </a:r>
            <a:r>
              <a:rPr lang="en-US" dirty="0"/>
              <a:t>Java</a:t>
            </a:r>
            <a:r>
              <a:rPr lang="ru-RU" dirty="0"/>
              <a:t>), что в 2000</a:t>
            </a:r>
          </a:p>
          <a:p>
            <a:pPr marL="0" indent="0">
              <a:buNone/>
            </a:pPr>
            <a:r>
              <a:rPr lang="ru-RU" dirty="0"/>
              <a:t>перетекло в </a:t>
            </a:r>
            <a:r>
              <a:rPr lang="en-US" dirty="0"/>
              <a:t>C#.</a:t>
            </a:r>
          </a:p>
          <a:p>
            <a:pPr marL="0" indent="0">
              <a:buNone/>
            </a:pPr>
            <a:r>
              <a:rPr lang="ru-RU" dirty="0"/>
              <a:t>В 2012 присоединился к команде </a:t>
            </a:r>
            <a:r>
              <a:rPr lang="en-US" dirty="0"/>
              <a:t>TS.</a:t>
            </a:r>
          </a:p>
          <a:p>
            <a:pPr marL="0" indent="0">
              <a:buNone/>
            </a:pPr>
            <a:r>
              <a:rPr lang="ru-RU" dirty="0"/>
              <a:t>Ныне продолжает работать над </a:t>
            </a:r>
            <a:r>
              <a:rPr lang="en-US" dirty="0"/>
              <a:t>TypeScript</a:t>
            </a:r>
          </a:p>
          <a:p>
            <a:pPr marL="0" indent="0">
              <a:buNone/>
            </a:pPr>
            <a:r>
              <a:rPr lang="ru-RU" dirty="0"/>
              <a:t>как главный архитектор.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24F1AF2-2363-4E98-9DD2-9C9C3FA103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4225" y="1616075"/>
            <a:ext cx="314325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42D7170-023E-484B-9DC2-4CB6EB65F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C1767-054D-4D37-A473-AD105C84E435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507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3914E5-7AB6-43CD-AAAE-CFF9B3953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дает </a:t>
            </a:r>
            <a:r>
              <a:rPr lang="en-US" dirty="0"/>
              <a:t>TS </a:t>
            </a:r>
            <a:r>
              <a:rPr lang="ru-RU" dirty="0"/>
              <a:t>на практике?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461FBA-4A12-403D-9337-89131AF12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Ошибки до запуска, а не в </a:t>
            </a:r>
            <a:r>
              <a:rPr lang="ru-RU" dirty="0" err="1"/>
              <a:t>проде</a:t>
            </a:r>
            <a:r>
              <a:rPr lang="ru-RU" dirty="0"/>
              <a:t>. Опечатки, неверные аргументы функции</a:t>
            </a:r>
            <a:r>
              <a:rPr lang="en-US" dirty="0"/>
              <a:t>, </a:t>
            </a:r>
            <a:r>
              <a:rPr lang="ru-RU" dirty="0"/>
              <a:t>классическое «</a:t>
            </a:r>
            <a:r>
              <a:rPr lang="ru-RU" dirty="0" err="1"/>
              <a:t>Cannot</a:t>
            </a:r>
            <a:r>
              <a:rPr lang="ru-RU" dirty="0"/>
              <a:t> </a:t>
            </a:r>
            <a:r>
              <a:rPr lang="ru-RU" dirty="0" err="1"/>
              <a:t>read</a:t>
            </a:r>
            <a:r>
              <a:rPr lang="ru-RU" dirty="0"/>
              <a:t> </a:t>
            </a:r>
            <a:r>
              <a:rPr lang="ru-RU" dirty="0" err="1"/>
              <a:t>properties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undefined</a:t>
            </a:r>
            <a:r>
              <a:rPr lang="ru-RU" dirty="0"/>
              <a:t> (</a:t>
            </a:r>
            <a:r>
              <a:rPr lang="ru-RU" dirty="0" err="1"/>
              <a:t>reading</a:t>
            </a:r>
            <a:r>
              <a:rPr lang="ru-RU" dirty="0"/>
              <a:t> '</a:t>
            </a:r>
            <a:r>
              <a:rPr lang="ru-RU" dirty="0" err="1"/>
              <a:t>length</a:t>
            </a:r>
            <a:r>
              <a:rPr lang="ru-RU" dirty="0"/>
              <a:t>’)» </a:t>
            </a:r>
            <a:r>
              <a:rPr lang="en-US" dirty="0"/>
              <a:t>IDE</a:t>
            </a:r>
            <a:r>
              <a:rPr lang="ru-RU" dirty="0"/>
              <a:t> подсветит ещё в редакторе.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Документация, которая не врёт. Сигнатура `</a:t>
            </a:r>
            <a:r>
              <a:rPr lang="ru-RU" dirty="0" err="1"/>
              <a:t>moveTask</a:t>
            </a:r>
            <a:r>
              <a:rPr lang="ru-RU" dirty="0"/>
              <a:t>(</a:t>
            </a:r>
            <a:r>
              <a:rPr lang="ru-RU" dirty="0" err="1"/>
              <a:t>tasks</a:t>
            </a:r>
            <a:r>
              <a:rPr lang="ru-RU" dirty="0"/>
              <a:t>: Task[], </a:t>
            </a:r>
            <a:r>
              <a:rPr lang="ru-RU" dirty="0" err="1"/>
              <a:t>id</a:t>
            </a:r>
            <a:r>
              <a:rPr lang="ru-RU" dirty="0"/>
              <a:t>: </a:t>
            </a:r>
            <a:r>
              <a:rPr lang="ru-RU" dirty="0" err="1"/>
              <a:t>string</a:t>
            </a:r>
            <a:r>
              <a:rPr lang="ru-RU" dirty="0"/>
              <a:t>, </a:t>
            </a:r>
            <a:r>
              <a:rPr lang="ru-RU" dirty="0" err="1"/>
              <a:t>status</a:t>
            </a:r>
            <a:r>
              <a:rPr lang="ru-RU" dirty="0"/>
              <a:t>: </a:t>
            </a:r>
            <a:r>
              <a:rPr lang="ru-RU" dirty="0" err="1"/>
              <a:t>TaskStatus</a:t>
            </a:r>
            <a:r>
              <a:rPr lang="ru-RU" dirty="0"/>
              <a:t>): Task[]` рассказывает больше, чем некоторые комментарии.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err="1"/>
              <a:t>Автодополнение</a:t>
            </a:r>
            <a:r>
              <a:rPr lang="ru-RU" dirty="0"/>
              <a:t> и рефакторинг. Редактор знает структуру данных и предлагает поля, переименования и импорты сам.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Безопасность рефакторинга. Поменяли поле — </a:t>
            </a:r>
            <a:r>
              <a:rPr lang="ru-RU" dirty="0" err="1"/>
              <a:t>транспилятора</a:t>
            </a:r>
            <a:r>
              <a:rPr lang="ru-RU" dirty="0"/>
              <a:t> покажет, что нужно починить.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8602488-2012-4B31-AE24-AB1F44EEF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C1767-054D-4D37-A473-AD105C84E435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1033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A8ABB4-0735-4CCE-868E-EE7391DBC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не может </a:t>
            </a:r>
            <a:r>
              <a:rPr lang="en-US" dirty="0"/>
              <a:t>TS?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D76F47-7022-4971-85E0-2B177A444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TypeScript</a:t>
            </a:r>
            <a:r>
              <a:rPr lang="ru-RU" dirty="0"/>
              <a:t> проверяет только то, что вы ему рассказали.</a:t>
            </a:r>
            <a:endParaRPr lang="en-US" dirty="0"/>
          </a:p>
          <a:p>
            <a:r>
              <a:rPr lang="ru-RU" dirty="0"/>
              <a:t>Типы не существующие во время выполнения, например, данные от сервера, нельзя проверить до их получения.</a:t>
            </a:r>
          </a:p>
          <a:p>
            <a:endParaRPr lang="ru-RU" dirty="0"/>
          </a:p>
          <a:p>
            <a:r>
              <a:rPr lang="ru-RU" dirty="0"/>
              <a:t>После провала </a:t>
            </a:r>
            <a:r>
              <a:rPr lang="en-US" dirty="0"/>
              <a:t>ES4 </a:t>
            </a:r>
            <a:r>
              <a:rPr lang="ru-RU" dirty="0"/>
              <a:t>в 2008 команда </a:t>
            </a:r>
            <a:r>
              <a:rPr lang="en-US" dirty="0"/>
              <a:t>TS </a:t>
            </a:r>
            <a:r>
              <a:rPr lang="ru-RU" dirty="0"/>
              <a:t>решила не пытаться влиять на </a:t>
            </a:r>
            <a:r>
              <a:rPr lang="en-US" dirty="0"/>
              <a:t>runtime JS.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18757E-8587-4800-8EE9-8EB976794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C1767-054D-4D37-A473-AD105C84E435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2031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BF901C-AF53-49C9-B24E-05C7554EF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Примитивы в </a:t>
            </a:r>
            <a:r>
              <a:rPr lang="en-US" dirty="0"/>
              <a:t>TS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E2DB3A-B43A-4CFD-8500-034592B24449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tx1"/>
          </a:solidFill>
        </p:spPr>
        <p:txBody>
          <a:bodyPr/>
          <a:lstStyle/>
          <a:p>
            <a:pPr marL="0" indent="0">
              <a:buNone/>
            </a:pP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Примитивы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Деплой'</a:t>
            </a:r>
            <a:r>
              <a:rPr lang="ru-R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isDone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taskId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nothing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notYet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undefined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undefined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D6E86D1-C40C-447E-A430-1AC472246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C1767-054D-4D37-A473-AD105C84E435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1021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A62548-FE53-40E8-AA5A-DA4A9E707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Массивы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3D5F14-D198-4892-B4E7-12F580C432C1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tx1"/>
          </a:solidFill>
        </p:spPr>
        <p:txBody>
          <a:bodyPr/>
          <a:lstStyle/>
          <a:p>
            <a:pPr marL="0" indent="0">
              <a:buNone/>
            </a:pP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Массивы — две равнозначные записи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tags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 = [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релиз'</a:t>
            </a:r>
            <a:r>
              <a:rPr lang="ru-R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'баг'</a:t>
            </a:r>
            <a:r>
              <a:rPr lang="ru-R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];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scores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 = [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Кортеж (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tuple):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фиксированная длина и типы по позициям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kanbanColumn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= </a:t>
            </a:r>
            <a:endParaRPr lang="ru-RU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dirty="0">
                <a:solidFill>
                  <a:srgbClr val="D4D4D4"/>
                </a:solidFill>
                <a:latin typeface="Consolas" panose="020B0609020204030204" pitchFamily="49" charset="0"/>
              </a:rPr>
              <a:t>							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В работе'</a:t>
            </a:r>
            <a:r>
              <a:rPr lang="ru-R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ru-RU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ru-R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];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E5AA8DD-A451-4571-A6FE-EBEB829DE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C1767-054D-4D37-A473-AD105C84E435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2685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3766C6-E48D-42C9-BA13-2F39F071A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Union </a:t>
            </a:r>
            <a:r>
              <a:rPr lang="ru-RU" dirty="0"/>
              <a:t>и литеральные типы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2C6AE4-D585-4F05-A32A-AFF748B56D46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Объединение (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union): «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или-или»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deadline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|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'2026-09-01'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Литеральный тип: только конкретные значения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TaskStatus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К выполнению'</a:t>
            </a:r>
            <a:r>
              <a:rPr lang="ru-R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| </a:t>
            </a:r>
            <a:r>
              <a:rPr lang="ru-R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'В работе'</a:t>
            </a:r>
            <a:r>
              <a:rPr lang="ru-R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| </a:t>
            </a:r>
            <a:r>
              <a:rPr lang="ru-R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'Готово’</a:t>
            </a:r>
            <a:r>
              <a:rPr lang="ru-R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TaskStatus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В работе'</a:t>
            </a:r>
            <a:r>
              <a:rPr lang="ru-R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status = '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Сделано'; // 💥 ошибка компиляции: такого статуса нет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207D942-3AB0-468B-B064-BFAA46F7B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C1767-054D-4D37-A473-AD105C84E435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1698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DE83B-0ED0-41C2-B432-94BF482ED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Особые типы данных</a:t>
            </a:r>
          </a:p>
        </p:txBody>
      </p:sp>
      <p:graphicFrame>
        <p:nvGraphicFramePr>
          <p:cNvPr id="7" name="Таблица 7">
            <a:extLst>
              <a:ext uri="{FF2B5EF4-FFF2-40B4-BE49-F238E27FC236}">
                <a16:creationId xmlns:a16="http://schemas.microsoft.com/office/drawing/2014/main" id="{93E1E56B-7002-42A0-9CEB-952CFAB048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8376329"/>
              </p:ext>
            </p:extLst>
          </p:nvPr>
        </p:nvGraphicFramePr>
        <p:xfrm>
          <a:off x="838200" y="1825625"/>
          <a:ext cx="10515597" cy="321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77474019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23795653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4867185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Тип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Что означает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Когда используется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6687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any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«отстань от меня»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проверка типов отключается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 миграциях с </a:t>
                      </a:r>
                      <a:r>
                        <a:rPr lang="en-US" dirty="0"/>
                        <a:t>JavaScript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2290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unknow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значение неизвестного типа</a:t>
                      </a:r>
                      <a:r>
                        <a:rPr lang="en-US" dirty="0"/>
                        <a:t>,</a:t>
                      </a:r>
                      <a:r>
                        <a:rPr lang="ru-RU" dirty="0"/>
                        <a:t> использовать</a:t>
                      </a:r>
                      <a:r>
                        <a:rPr lang="en-US" dirty="0"/>
                        <a:t> </a:t>
                      </a:r>
                      <a:r>
                        <a:rPr lang="ru-RU" dirty="0"/>
                        <a:t>только после проверки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Результаты 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fetch, 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парсинг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JSON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4054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never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«никогда»: функция не возвращается, недостижимая ветка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Обработка ошибок, проверка исчерпывающих `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switch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`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5514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void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функция ничего не возвращает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Колбэки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обработчики событий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17704"/>
                  </a:ext>
                </a:extLst>
              </a:tr>
            </a:tbl>
          </a:graphicData>
        </a:graphic>
      </p:graphicFrame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17AB76FF-2E2B-4C73-AD09-45FE0030E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C1767-054D-4D37-A473-AD105C84E435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6363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67381B-74C5-4562-AFBF-189693F32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 vs. type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5D0F1F-137D-4834-B72C-7157345B9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88000" cy="4351338"/>
          </a:xfrm>
          <a:solidFill>
            <a:schemeClr val="tx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interface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TaskStatus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tags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deadline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|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7A0D9C50-5EB5-45E2-A879-484BB4DA9C8B}"/>
              </a:ext>
            </a:extLst>
          </p:cNvPr>
          <p:cNvSpPr txBox="1">
            <a:spLocks/>
          </p:cNvSpPr>
          <p:nvPr/>
        </p:nvSpPr>
        <p:spPr>
          <a:xfrm>
            <a:off x="6426200" y="1825625"/>
            <a:ext cx="5588000" cy="435133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type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TaskAsType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{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TaskStatus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tags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deadline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|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9D8785D-E154-49BE-BF0B-5163DE41A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C1767-054D-4D37-A473-AD105C84E435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7476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AA2804-9F09-4A36-AD12-375F7EFEE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Принципиальные отличия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A183C50E-B583-4BC4-92FF-504A7E414D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263078"/>
              </p:ext>
            </p:extLst>
          </p:nvPr>
        </p:nvGraphicFramePr>
        <p:xfrm>
          <a:off x="838200" y="1825625"/>
          <a:ext cx="10515597" cy="2763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83089323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405947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8648346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Критерий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Interface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6489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Объединения/пересечения (`A \| B`, `A &amp; B`)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5999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Алиасы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примитивов и кортежей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5672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Наследование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`extends`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Перечисление </a:t>
                      </a:r>
                      <a:r>
                        <a:rPr lang="en-US" dirty="0"/>
                        <a:t>`&amp;`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5230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Дополнение объявления (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declaration merging)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Да: два `</a:t>
                      </a:r>
                      <a:r>
                        <a:rPr lang="ru-RU" dirty="0" err="1"/>
                        <a:t>interface</a:t>
                      </a:r>
                      <a:r>
                        <a:rPr lang="ru-RU" dirty="0"/>
                        <a:t>` с одним именем объединяются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Нет: повторное имя — ошибка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9999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Сообщение об ошибках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Обычно «форма объекта»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Как повезёт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4620335"/>
                  </a:ext>
                </a:extLst>
              </a:tr>
            </a:tbl>
          </a:graphicData>
        </a:graphic>
      </p:graphicFrame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2A59BBE-0E7C-4438-9490-55343B0C7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C1767-054D-4D37-A473-AD105C84E435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45542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583539-7AA5-4B14-B169-82FE69CC9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ошибки у </a:t>
            </a:r>
            <a:r>
              <a:rPr lang="en-US" dirty="0"/>
              <a:t>type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9064B6-E423-4E27-A917-663D724BF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  <a:solidFill>
            <a:schemeClr val="tx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Admin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{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role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"admin"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accessLevel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pPr marL="0" indent="0">
              <a:buNone/>
            </a:pP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Guest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{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role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"guest"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canComment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};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000" b="0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Admin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| </a:t>
            </a: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Guest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u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{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role: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"admin"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accessLevel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"high"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};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3CF7F657-0BBE-4061-B2B8-B7CF467DFF9C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257800" cy="4351338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'{ role: "admin"; 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accessLevel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string; }'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assignable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'User'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'{ role: "admin"; 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accessLevel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string; }'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assignable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'Admin'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property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accessLevel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incompatible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'string'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assignable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'number'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'{ role: "admin"; 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accessLevel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string; }'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assignable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'Guest'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property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'role'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incompatible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'"admin"'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assignable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'"guest"'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053D7A0-1698-492A-8AB0-9B3F1F4CC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C1767-054D-4D37-A473-AD105C84E435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50410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2022DD-B74F-464C-B79D-1AFC28707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Правило выбора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1F4D03-B634-4877-9ED0-E3B252DB0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/>
          </a:p>
          <a:p>
            <a:r>
              <a:rPr lang="ru-RU" dirty="0" err="1"/>
              <a:t>interface</a:t>
            </a:r>
            <a:r>
              <a:rPr lang="ru-RU" dirty="0"/>
              <a:t> — для форм объектов, публичных контрактов. Читается как «объект обязан иметь такую форму» и поддерживает расширение.</a:t>
            </a:r>
          </a:p>
          <a:p>
            <a:r>
              <a:rPr lang="ru-RU" dirty="0" err="1"/>
              <a:t>type</a:t>
            </a:r>
            <a:r>
              <a:rPr lang="ru-RU" dirty="0"/>
              <a:t> — для объединений, литералов, кортежей, служебных композиций.</a:t>
            </a:r>
          </a:p>
          <a:p>
            <a:r>
              <a:rPr lang="ru-RU" dirty="0"/>
              <a:t>Оба подхода используют </a:t>
            </a:r>
            <a:r>
              <a:rPr lang="ru-RU" dirty="0" err="1"/>
              <a:t>generics</a:t>
            </a:r>
            <a:r>
              <a:rPr lang="ru-RU" dirty="0"/>
              <a:t>, оба компилируются «в ноль». Спор о превосходстве одного над другим длится десятилетие.</a:t>
            </a:r>
          </a:p>
          <a:p>
            <a:r>
              <a:rPr lang="ru-RU" dirty="0"/>
              <a:t>Но он всё таки называется нет </a:t>
            </a:r>
            <a:r>
              <a:rPr lang="en-US" dirty="0" err="1"/>
              <a:t>InterfaceScript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6186217-2361-47A8-A5D2-D78627B04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C1767-054D-4D37-A473-AD105C84E435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8664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05D4A4-D212-4400-B8AD-84A1B8904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F0B18A-6E3D-4A5C-BA9C-0CA9E3B33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Дженерики — это объекты с типами в качестве параметров.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Кто может быть дженериком:</a:t>
            </a:r>
          </a:p>
          <a:p>
            <a:pPr lvl="2"/>
            <a:r>
              <a:rPr lang="en-US" sz="2800" dirty="0"/>
              <a:t>Interface</a:t>
            </a:r>
          </a:p>
          <a:p>
            <a:pPr lvl="2"/>
            <a:r>
              <a:rPr lang="en-US" sz="2800" dirty="0"/>
              <a:t>Type</a:t>
            </a:r>
          </a:p>
          <a:p>
            <a:pPr lvl="2"/>
            <a:r>
              <a:rPr lang="en-US" sz="2800" dirty="0"/>
              <a:t>Function</a:t>
            </a:r>
          </a:p>
          <a:p>
            <a:pPr lvl="2"/>
            <a:r>
              <a:rPr lang="en-US" sz="2800" dirty="0"/>
              <a:t>Class</a:t>
            </a:r>
            <a:endParaRPr lang="ru-RU" sz="28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72546F0-774C-4077-AB25-5268FE4A5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C1767-054D-4D37-A473-AD105C84E435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27677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1EB040-C3F7-4DFB-AA59-6F097269C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Классека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489BDC-629B-45DB-A25C-53A3AB2A828F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tx1"/>
          </a:solidFill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ApiResponse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 {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timestamp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dirty="0">
                <a:solidFill>
                  <a:srgbClr val="6A9955"/>
                </a:solidFill>
                <a:latin typeface="Consolas" panose="020B0609020204030204" pitchFamily="49" charset="0"/>
              </a:rPr>
              <a:t>ответ с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проектами</a:t>
            </a:r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ProjectsResponse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ApiResponse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Project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[]&gt;;</a:t>
            </a:r>
            <a:endParaRPr lang="ru-RU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ответ с задачей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TaskResponse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ApiResponse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&gt;;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D9CF1A3-8D5D-4817-8E10-AFF77A88C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C1767-054D-4D37-A473-AD105C84E435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11756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900761D7-7D50-46E3-9EE9-B923562A3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1351"/>
            <a:ext cx="10515600" cy="3892550"/>
          </a:xfrm>
          <a:solidFill>
            <a:schemeClr val="tx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firstTask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[]): </a:t>
            </a: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]; }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firstString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[]): </a:t>
            </a: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]; }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...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а с дженериками — одна функция на все случаи</a:t>
            </a:r>
            <a:endParaRPr lang="ru-RU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[]): </a:t>
            </a: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| </a:t>
            </a: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undefined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];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tasks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  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 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выведен как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Task, 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результат —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Task | undefined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'a'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]);  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 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выведен как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string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383FCA-FB01-4A23-9C07-AD7273C2AC54}"/>
              </a:ext>
            </a:extLst>
          </p:cNvPr>
          <p:cNvSpPr txBox="1"/>
          <p:nvPr/>
        </p:nvSpPr>
        <p:spPr>
          <a:xfrm>
            <a:off x="838200" y="4768850"/>
            <a:ext cx="7172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Зачастую выводимый тип писать не обязательно, </a:t>
            </a:r>
            <a:r>
              <a:rPr lang="en-US" dirty="0"/>
              <a:t>IDE </a:t>
            </a:r>
            <a:r>
              <a:rPr lang="ru-RU" dirty="0"/>
              <a:t>сама его выведет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939CFC9-660E-4040-A7E4-14C34B9EF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C1767-054D-4D37-A473-AD105C84E435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88060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7F9720-8B3E-45DD-B03F-CE56C9AD8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Ограничения – требования к типу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7D23A8-8F7F-416F-8B74-DE5F7D3FB31C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tx1"/>
          </a:solidFill>
        </p:spPr>
        <p:txBody>
          <a:bodyPr/>
          <a:lstStyle/>
          <a:p>
            <a:pPr marL="0" indent="0">
              <a:buNone/>
            </a:pP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HasId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принимает только массивы объектов с полем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id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findById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HasId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items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[],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 </a:t>
            </a: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| </a:t>
            </a: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undefined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items</a:t>
            </a:r>
            <a:r>
              <a:rPr lang="en-US" sz="20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===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92D0308-E14C-42BE-8152-8FDB4F5D2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C1767-054D-4D37-A473-AD105C84E435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24884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2996AE-7B7A-42A9-94E7-70F6FBD47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Значение </a:t>
            </a:r>
            <a:r>
              <a:rPr lang="ru-RU" dirty="0" err="1"/>
              <a:t>по-умолчанию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6C3911-F2E3-4D61-A47E-A6559AA0AC36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tx1"/>
          </a:solidFill>
        </p:spPr>
        <p:txBody>
          <a:bodyPr/>
          <a:lstStyle/>
          <a:p>
            <a:pPr marL="0" indent="0"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Paginated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 {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[];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page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page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Paginated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{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items: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tasks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page: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total: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US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}; 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 = Task</a:t>
            </a: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3F67A72-A47F-45E6-AF2D-6C7A2A930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C1767-054D-4D37-A473-AD105C84E435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22516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3C6C27-CCF5-4737-8179-B85E754F7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Utility </a:t>
            </a:r>
            <a:r>
              <a:rPr lang="ru-RU" dirty="0" err="1"/>
              <a:t>Types</a:t>
            </a:r>
            <a:endParaRPr lang="ru-RU" dirty="0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62070DAC-1EA0-430F-8EDF-13BFDE0A3D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5534754"/>
              </p:ext>
            </p:extLst>
          </p:nvPr>
        </p:nvGraphicFramePr>
        <p:xfrm>
          <a:off x="838200" y="1825625"/>
          <a:ext cx="10515597" cy="4582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63922149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48865823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6640008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Utility-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тип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Что делает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Пример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6902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err="1"/>
                        <a:t>Partial</a:t>
                      </a:r>
                      <a:r>
                        <a:rPr lang="ru-RU" dirty="0"/>
                        <a:t>&lt;T&gt;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Все свойства необязательные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Обновление задачи: </a:t>
                      </a:r>
                      <a:r>
                        <a:rPr lang="ru-RU" dirty="0" err="1"/>
                        <a:t>updateTask</a:t>
                      </a:r>
                      <a:r>
                        <a:rPr lang="ru-RU" dirty="0"/>
                        <a:t>(</a:t>
                      </a:r>
                      <a:r>
                        <a:rPr lang="ru-RU" dirty="0" err="1"/>
                        <a:t>id</a:t>
                      </a:r>
                      <a:r>
                        <a:rPr lang="ru-RU" dirty="0"/>
                        <a:t>, </a:t>
                      </a:r>
                      <a:r>
                        <a:rPr lang="ru-RU" dirty="0" err="1"/>
                        <a:t>Partial</a:t>
                      </a:r>
                      <a:r>
                        <a:rPr lang="ru-RU" dirty="0"/>
                        <a:t>&lt;Task&gt;)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7691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err="1"/>
                        <a:t>Required</a:t>
                      </a:r>
                      <a:r>
                        <a:rPr lang="ru-RU" dirty="0"/>
                        <a:t>&lt;T&gt;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Все свойства обязательные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Обратное превращение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8309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Readonly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&lt;T&gt;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Все свойства только для чтения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Иммутабельность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на уровне типов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551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Pick&lt;T, K&gt;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Выбрать перечисленные поля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Pick&lt;Task, 'id' | 'title'&gt;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5917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Omit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&lt;T, K&gt;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Исключить перечисленные поля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Omit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&lt;Task, '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'&gt; — данные новой задачи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0750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Record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&lt;K, V&gt;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Объект с ключами `K` и значениями `V`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Record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TaskStatus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Task[]&gt; — группировка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8158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ReturnType</a:t>
                      </a: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&lt;F&gt;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Тип возвращаемого значения функции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Для вывода сложных типов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3550132"/>
                  </a:ext>
                </a:extLst>
              </a:tr>
            </a:tbl>
          </a:graphicData>
        </a:graphic>
      </p:graphicFrame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35D10F3-E704-4BAF-AEF0-80A756555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C1767-054D-4D37-A473-AD105C84E435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84970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A12A4E-CD54-4371-9647-62CB62244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Narrowing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0BCD5F-165B-4A86-9172-9DE16E7516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30275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Сужение типа (</a:t>
            </a:r>
            <a:r>
              <a:rPr lang="ru-RU" dirty="0" err="1"/>
              <a:t>narrowing</a:t>
            </a:r>
            <a:r>
              <a:rPr lang="ru-RU" dirty="0"/>
              <a:t>) — процесс, при котором компилятор по проверкам в коде понимает, какой именно тип перед ним.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A52EDF-BD59-4169-9B16-0466BB8CC6EE}"/>
              </a:ext>
            </a:extLst>
          </p:cNvPr>
          <p:cNvSpPr txBox="1"/>
          <p:nvPr/>
        </p:nvSpPr>
        <p:spPr>
          <a:xfrm>
            <a:off x="971550" y="2755900"/>
            <a:ext cx="10013950" cy="387798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describe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deadline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|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deadline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===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Без дедлайна'</a:t>
            </a:r>
            <a:r>
              <a:rPr lang="ru-RU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ru-R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  <a:endParaRPr lang="ru-R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здесь компилятор уже знает: </a:t>
            </a: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deadline — string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ru-R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Дедлайн: </a:t>
            </a:r>
            <a:r>
              <a:rPr lang="ru-RU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deadline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|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typeof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===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'string'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toUpperCase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здесь </a:t>
            </a: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value: string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toFixed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здесь </a:t>
            </a: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value: number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1B545E4-F643-4FAB-97E0-455052035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C1767-054D-4D37-A473-AD105C84E435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28064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FB617D-5484-4500-BD2A-9DBAEF6CE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проверок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5865B1-0BE6-4F71-B6FD-A429927FE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typeof</a:t>
            </a:r>
            <a:r>
              <a:rPr lang="en-US" dirty="0"/>
              <a:t> — </a:t>
            </a:r>
            <a:r>
              <a:rPr lang="ru-RU" dirty="0"/>
              <a:t>для примитивов (`'</a:t>
            </a:r>
            <a:r>
              <a:rPr lang="en-US" dirty="0"/>
              <a:t>string'`, `'number'`, `'</a:t>
            </a:r>
            <a:r>
              <a:rPr lang="en-US" dirty="0" err="1"/>
              <a:t>boolean</a:t>
            </a:r>
            <a:r>
              <a:rPr lang="en-US" dirty="0"/>
              <a:t>'`).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Проверки на `</a:t>
            </a:r>
            <a:r>
              <a:rPr lang="en-US" dirty="0"/>
              <a:t>null`/`undefined` </a:t>
            </a:r>
            <a:r>
              <a:rPr lang="ru-RU" dirty="0"/>
              <a:t>и </a:t>
            </a:r>
            <a:r>
              <a:rPr lang="en-US" dirty="0"/>
              <a:t>truthiness (`if (value)`).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Оператор `</a:t>
            </a:r>
            <a:r>
              <a:rPr lang="en-US" dirty="0"/>
              <a:t>in` — </a:t>
            </a:r>
            <a:r>
              <a:rPr lang="ru-RU" dirty="0"/>
              <a:t>наличие свойства: </a:t>
            </a:r>
            <a:r>
              <a:rPr lang="en-US" dirty="0"/>
              <a:t>if ('deadline' in item).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instanceof</a:t>
            </a:r>
            <a:r>
              <a:rPr lang="en-US" dirty="0"/>
              <a:t> — </a:t>
            </a:r>
            <a:r>
              <a:rPr lang="ru-RU" dirty="0"/>
              <a:t>для классов.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59B0F23-2B8B-4C15-AF6F-389295ABD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C1767-054D-4D37-A473-AD105C84E435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97607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FB6D39-8B25-4358-B10B-8BF719368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Пользовательские предикаты — функция, возвращающая `x </a:t>
            </a:r>
            <a:r>
              <a:rPr lang="ru-RU" dirty="0" err="1"/>
              <a:t>is</a:t>
            </a:r>
            <a:r>
              <a:rPr lang="ru-RU" dirty="0"/>
              <a:t> T`: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6C1887-2DDF-4CBF-A7C6-8D2C6432D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solidFill>
            <a:schemeClr val="tx1"/>
          </a:solidFill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isTask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unknown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Task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typeof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===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'object'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&amp;&amp;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!==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&amp;&amp;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'id'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&amp;&amp;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'title'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&amp;&amp;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'status'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);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isTask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parsed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&amp;&amp;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parsed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2BBEB1C-0F50-44C8-B07C-59A0BF8E8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C1767-054D-4D37-A473-AD105C84E435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79611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56479A-0BA5-4668-A075-35EA000C8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Дискриминированные объединения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F7ECFF-D7B5-407B-BE0A-99C29CCCD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30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Способ определить конкретное значение по общей метке: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5A7AEB-5CD0-4234-A517-684141A2E081}"/>
              </a:ext>
            </a:extLst>
          </p:cNvPr>
          <p:cNvSpPr txBox="1"/>
          <p:nvPr/>
        </p:nvSpPr>
        <p:spPr>
          <a:xfrm>
            <a:off x="838200" y="2298700"/>
            <a:ext cx="10515600" cy="424731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NotificationEvent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|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kind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'task-created'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taskId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|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kind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'task-moved'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taskId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newStatus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TaskStatus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|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kind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'comment-added'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taskId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author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describeEvent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NotificationEvent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kind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'task-created'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ru-R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Создана задача </a:t>
            </a:r>
            <a:r>
              <a:rPr lang="ru-RU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taskId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'task-moved'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ru-R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Задача </a:t>
            </a:r>
            <a:r>
              <a:rPr lang="ru-RU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taskId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→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newStatus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'comment-added'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author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оставил комментарий к </a:t>
            </a:r>
            <a:r>
              <a:rPr lang="ru-RU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taskId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2938D45-549D-4EE7-A78D-55A3F9F66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C1767-054D-4D37-A473-AD105C84E435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22279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4553D2-3AD0-4FB2-947F-32EF031DC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же так сложно?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6FC6F6-012D-42DA-9050-6A0F1A254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Типов во время исполнения уже не существует.</a:t>
            </a:r>
          </a:p>
          <a:p>
            <a:r>
              <a:rPr lang="ru-RU" dirty="0"/>
              <a:t>Отсюда, </a:t>
            </a:r>
            <a:r>
              <a:rPr lang="en-US" dirty="0" err="1"/>
              <a:t>typeof</a:t>
            </a:r>
            <a:r>
              <a:rPr lang="en-US" dirty="0"/>
              <a:t> value === 'Task’</a:t>
            </a:r>
            <a:r>
              <a:rPr lang="ru-RU" dirty="0"/>
              <a:t> не сработает.</a:t>
            </a:r>
          </a:p>
          <a:p>
            <a:r>
              <a:rPr lang="ru-RU" dirty="0"/>
              <a:t>Во время исполнения работают только проверки реальных данных: поля, </a:t>
            </a:r>
            <a:r>
              <a:rPr lang="en-US" dirty="0" err="1"/>
              <a:t>instanceof</a:t>
            </a:r>
            <a:r>
              <a:rPr lang="en-US" dirty="0"/>
              <a:t>, </a:t>
            </a:r>
            <a:r>
              <a:rPr lang="ru-RU" dirty="0"/>
              <a:t>предикаты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CE651D8-373D-4907-9770-03890EEFC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C1767-054D-4D37-A473-AD105C84E435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32448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0115D9-D421-434A-9481-1F1370163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Список ресурсов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A5AAC3-17D1-4B87-83B2-22B87079B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https://nshuklin.github.io/</a:t>
            </a:r>
            <a:endParaRPr lang="en-US" dirty="0"/>
          </a:p>
          <a:p>
            <a:r>
              <a:rPr lang="en-US" dirty="0">
                <a:hlinkClick r:id="rId3"/>
              </a:rPr>
              <a:t>https://www.typescriptlang.org/</a:t>
            </a:r>
            <a:endParaRPr lang="en-US" dirty="0"/>
          </a:p>
          <a:p>
            <a:r>
              <a:rPr lang="en-US" dirty="0">
                <a:hlinkClick r:id="rId4"/>
              </a:rPr>
              <a:t>https://www.typescriptlang.org/play/</a:t>
            </a:r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02B4E1-553C-4203-90A3-CAB88EC67D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43750" y="2505075"/>
            <a:ext cx="3987800" cy="3987800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11F2A0-890F-4337-955B-516C6FAE7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C1767-054D-4D37-A473-AD105C84E435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506750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1071</TotalTime>
  <Words>1746</Words>
  <Application>Microsoft Office PowerPoint</Application>
  <PresentationFormat>Широкоэкранный</PresentationFormat>
  <Paragraphs>279</Paragraphs>
  <Slides>27</Slides>
  <Notes>0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Consolas</vt:lpstr>
      <vt:lpstr>Тема Office</vt:lpstr>
      <vt:lpstr>Тема 4. TypeScript</vt:lpstr>
      <vt:lpstr>Зачем нужна типизация?</vt:lpstr>
      <vt:lpstr>Способы типизировать JS</vt:lpstr>
      <vt:lpstr>TypeScript</vt:lpstr>
      <vt:lpstr>Презентация PowerPoint</vt:lpstr>
      <vt:lpstr>Что дает TS на практике?</vt:lpstr>
      <vt:lpstr>Что не может TS?</vt:lpstr>
      <vt:lpstr>Примитивы в TS</vt:lpstr>
      <vt:lpstr>Массивы</vt:lpstr>
      <vt:lpstr>Union и литеральные типы</vt:lpstr>
      <vt:lpstr>Особые типы данных</vt:lpstr>
      <vt:lpstr>Interface vs. type</vt:lpstr>
      <vt:lpstr>Принципиальные отличия</vt:lpstr>
      <vt:lpstr>Пример ошибки у type</vt:lpstr>
      <vt:lpstr>Правило выбора</vt:lpstr>
      <vt:lpstr>Generics</vt:lpstr>
      <vt:lpstr>Классека</vt:lpstr>
      <vt:lpstr>Презентация PowerPoint</vt:lpstr>
      <vt:lpstr>Ограничения – требования к типу</vt:lpstr>
      <vt:lpstr>Значение по-умолчанию</vt:lpstr>
      <vt:lpstr>Utility Types</vt:lpstr>
      <vt:lpstr>Narrowing</vt:lpstr>
      <vt:lpstr>Виды проверок</vt:lpstr>
      <vt:lpstr>Пользовательские предикаты — функция, возвращающая `x is T`:</vt:lpstr>
      <vt:lpstr>Дискриминированные объединения</vt:lpstr>
      <vt:lpstr>Почему же так сложно?</vt:lpstr>
      <vt:lpstr>Список ресурсов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4. TypeScript &amp; JSDoc</dc:title>
  <dc:creator>Nikita A. Shuklin</dc:creator>
  <cp:lastModifiedBy>Nikita A. Shuklin</cp:lastModifiedBy>
  <cp:revision>45</cp:revision>
  <dcterms:created xsi:type="dcterms:W3CDTF">2026-09-21T09:13:18Z</dcterms:created>
  <dcterms:modified xsi:type="dcterms:W3CDTF">2026-09-22T03:04:22Z</dcterms:modified>
</cp:coreProperties>
</file>