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DD30A5D-6916-44A8-82BD-FA6A0FAC77A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Раздел без заголовка" id="{D105894A-686A-425C-B663-E2E68ECEBF2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CF59E-DAF2-47B8-A397-B860CA53AD6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14455-D995-4D61-8D8F-BE53063AD8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7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AFB0A-AAC2-4918-A185-62865071C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D19025-72E8-4966-A65D-87AD99CB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7741A9-261A-42EB-B1E3-659245C1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A0B57-3C92-4CAE-A6C8-260A8D0627D5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E5411C-438F-40E2-A5A4-DAA778CD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A75716-32F1-4114-B33E-C5DBC379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65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26096-41D0-4AFB-85C3-8958521F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900AE1-014E-43B4-9B30-BB0FBA069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73EA8-F15C-4870-9892-63CC3972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FC2E0-D6B5-44EC-AA3A-64399F2022FF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EC8C78-5A68-49CD-AE0D-2EF8852C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BBD132-9603-48D9-BA16-02F7390D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56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A0147-7214-4AE1-8F3A-9B554B51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7FE21-E3BF-4131-9A07-F945BFB63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4EF073-CE0E-4D32-9D37-F3EC3E02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6CE0C-C56B-4043-BBDE-6500BB9BC71D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952CC4-5191-4E57-8FA0-BC75AB81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BE46B-D812-451A-8FC7-4593460B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25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8B738-8F85-4ABF-845A-EC8240C0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259675-FDED-4624-A856-3E0B1934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5F2DE2-BF01-4832-BC58-D8505526F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5F6510-410E-41ED-BA67-329163E2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54BF-F194-4A01-AF41-5BA7050C735D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B22C39-4751-437B-93F3-3EA8E52C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E49E3-016C-48BC-89D1-CC7B5A4A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8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0ECE9-AB45-4103-98D1-42E4637D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3B18F0-EA0E-4E9D-BB7F-72FD6B9B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439902-6460-4163-A3DC-497071EE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32B907-DB64-4698-8931-7669A6EDD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08D928-C76F-47BD-BF80-5012D2D69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00708C-2C16-415A-A427-45A7F807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677F-0BED-4888-862D-494F1FAF363E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069DF4-7F40-4ECD-A463-9164C7A5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DBDABB-E2AE-4F48-BBC7-BA5DFE47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75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F6C746-8A05-450F-B582-CE50BA75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2BF435-5F1E-49BC-B402-D42279B5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436-6128-42B4-A225-EA085BB02BF9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308962-1957-4189-98D7-71510E9E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2230CD-89FD-48FC-BB92-2D6212A6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85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E0FB7C-983E-46F2-9DA7-B5C657BE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A6B66-C34E-41EF-A23D-D00FB54EBB2A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041F4F7-D30F-4190-B821-A74F4DA5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CC49CB-464D-40F5-AF72-0D0AF000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83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17CFC-89DB-4484-B941-30E811F8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BA7B1-1CF2-4D2A-B23B-2F9C86E39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4DE5F6-1A9C-44DB-901D-C6894EF2C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DE8023-1695-493C-A4DE-23574318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2387-2AFB-4321-A16D-D3262C0BC8A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D60F99-5FF6-42BF-B01A-06CD36923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2B79E0-AC42-4952-B856-A40D5647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9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92035-1E73-48FF-B122-112020BB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2F2E30-DB45-4214-B50B-982BD12D1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883D89-2720-4B52-8E53-1F69B18F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B34C79-DCC3-4B6C-93C0-B85D58C8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AC28-8C46-4824-A8FD-AEFB60D93AB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446CE9-1181-42F1-B069-06496CAF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884D7E-88C2-4AAB-8979-63E7FAFF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68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70C0F-97D8-4411-8813-EF2E1F9D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238283-374E-443A-8539-80F30838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948037-FCBF-414C-9628-E8C5A081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8E-5CA0-4286-8187-4CA3F3E3CDE5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3E663F-A0DE-40E7-BBCD-41D900E2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0432D8-EE5E-4B66-9F06-464E97A9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64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984D98-EE66-4D6E-A822-91228F2B1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923262-6F31-4A44-B458-9DB40BA0B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51607D-D05B-4266-A903-CA8F6D0D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4EE5-6D47-4FA3-B40D-2BA99DACE4E9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1B3D76-12B8-43F3-9A55-89FC2534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9FA81D-18B0-4572-B4BD-29A546CF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56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D0766-41BC-4B21-9E84-F859C731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86FF9B-A9D6-4517-8B91-33B5CE87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61E1BC-99FA-45B8-8196-C157007C1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E5F7D-F1F4-4D5C-ABB2-E3D80269D031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A605C5-554A-48FA-8E7F-BDA25922F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53EC26-4397-4E41-B326-FA136EC5E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7ADA-830E-4178-BDC0-92F746D1F4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12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6CF09-FE13-4CB8-9813-026E45CEA7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Тема 5. Браузер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3211E2-0888-4E53-B9C7-2B89C467F3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Среда выполнения, </a:t>
            </a:r>
            <a:r>
              <a:rPr lang="en-US" dirty="0"/>
              <a:t>DOM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F28E05-830C-4414-A2F9-AAD89B9F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88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C509D-C773-4DCB-B74F-136A2E3B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Что описывает </a:t>
            </a:r>
            <a:r>
              <a:rPr lang="en-US" dirty="0"/>
              <a:t>ECMAScript: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3DA836-EA8C-4B65-9415-E09CC11D8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Синтаксис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Типы данных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Функции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Классы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Встроенные объекты (`</a:t>
            </a:r>
            <a:r>
              <a:rPr lang="ru-RU" dirty="0" err="1"/>
              <a:t>Array</a:t>
            </a:r>
            <a:r>
              <a:rPr lang="ru-RU" dirty="0"/>
              <a:t>`, `</a:t>
            </a:r>
            <a:r>
              <a:rPr lang="ru-RU" dirty="0" err="1"/>
              <a:t>Map</a:t>
            </a:r>
            <a:r>
              <a:rPr lang="ru-RU" dirty="0"/>
              <a:t>`, `</a:t>
            </a:r>
            <a:r>
              <a:rPr lang="ru-RU" dirty="0" err="1"/>
              <a:t>Set</a:t>
            </a:r>
            <a:r>
              <a:rPr lang="ru-RU" dirty="0"/>
              <a:t>`, `</a:t>
            </a:r>
            <a:r>
              <a:rPr lang="ru-RU" dirty="0" err="1"/>
              <a:t>Promise</a:t>
            </a:r>
            <a:r>
              <a:rPr lang="ru-RU" dirty="0"/>
              <a:t>`, `JSON`)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9F7023-9FBD-4AA3-9366-D5E47FA8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E27F7-A96E-4E30-91AE-5E45124A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даёт среды </a:t>
            </a:r>
            <a:r>
              <a:rPr lang="ru-RU" dirty="0" err="1"/>
              <a:t>выполения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B055F-E064-4C1A-BBB5-84AB259BA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DOM</a:t>
            </a:r>
            <a:r>
              <a:rPr lang="ru-RU" dirty="0"/>
              <a:t> </a:t>
            </a:r>
            <a:r>
              <a:rPr lang="en-US" dirty="0"/>
              <a:t>— </a:t>
            </a:r>
            <a:r>
              <a:rPr lang="ru-RU" dirty="0"/>
              <a:t>объектная модель документа: дерево элементов страницы, доступное через `</a:t>
            </a:r>
            <a:r>
              <a:rPr lang="en-US" dirty="0"/>
              <a:t>document`.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BOM</a:t>
            </a:r>
            <a:r>
              <a:rPr lang="ru-RU" dirty="0"/>
              <a:t> </a:t>
            </a:r>
            <a:r>
              <a:rPr lang="en-US" dirty="0"/>
              <a:t>— </a:t>
            </a:r>
            <a:r>
              <a:rPr lang="ru-RU" dirty="0"/>
              <a:t>модель браузера, всё, что не относится к странице: `</a:t>
            </a:r>
            <a:r>
              <a:rPr lang="en-US" dirty="0"/>
              <a:t>location` (</a:t>
            </a:r>
            <a:r>
              <a:rPr lang="ru-RU" dirty="0"/>
              <a:t>адрес), `</a:t>
            </a:r>
            <a:r>
              <a:rPr lang="en-US" dirty="0"/>
              <a:t>navigator` (</a:t>
            </a:r>
            <a:r>
              <a:rPr lang="ru-RU" dirty="0"/>
              <a:t>данные о браузере и системе), `</a:t>
            </a:r>
            <a:r>
              <a:rPr lang="en-US" dirty="0"/>
              <a:t>history` (</a:t>
            </a:r>
            <a:r>
              <a:rPr lang="ru-RU" dirty="0"/>
              <a:t>навигация), `</a:t>
            </a:r>
            <a:r>
              <a:rPr lang="en-US" dirty="0"/>
              <a:t>screen` (</a:t>
            </a:r>
            <a:r>
              <a:rPr lang="ru-RU" dirty="0"/>
              <a:t>параметры экрана).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Web API</a:t>
            </a:r>
            <a:r>
              <a:rPr lang="ru-RU" dirty="0"/>
              <a:t> </a:t>
            </a:r>
            <a:r>
              <a:rPr lang="en-US" dirty="0"/>
              <a:t>— </a:t>
            </a:r>
            <a:r>
              <a:rPr lang="ru-RU" dirty="0"/>
              <a:t>прикладные возможности: `</a:t>
            </a:r>
            <a:r>
              <a:rPr lang="en-US" dirty="0"/>
              <a:t>fetch`, </a:t>
            </a:r>
            <a:r>
              <a:rPr lang="ru-RU" dirty="0"/>
              <a:t>таймеры, `</a:t>
            </a:r>
            <a:r>
              <a:rPr lang="en-US" dirty="0" err="1"/>
              <a:t>localStorage</a:t>
            </a:r>
            <a:r>
              <a:rPr lang="en-US" dirty="0"/>
              <a:t>`, `WebSocket`, `Geolocation`, `Notifications`, `Canvas` </a:t>
            </a:r>
            <a:r>
              <a:rPr lang="ru-RU" dirty="0"/>
              <a:t>и десятки других.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9C75EE-DBE1-4668-8646-07FFFA2E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15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A280-C06D-49C0-9F39-AE4E8B266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700"/>
            <a:ext cx="10515600" cy="5784849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DOM: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заголовок страницы</a:t>
            </a:r>
            <a:endParaRPr lang="ru-RU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BOM: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строка о браузере и ОС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navigator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userAgent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Web API: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сетевой запрос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/data’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Web API: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таймер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43F239E-3D78-4F46-9726-F52F7555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72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0620C-1C85-473E-B1D8-DDFF1243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Песочница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449E4-7AB5-4E3B-9889-4433A43E2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Каждая страница – отдельный </a:t>
            </a:r>
            <a:r>
              <a:rPr lang="en-US" dirty="0"/>
              <a:t>JSM </a:t>
            </a:r>
            <a:r>
              <a:rPr lang="ru-RU" dirty="0"/>
              <a:t>со своими ресурсами.</a:t>
            </a:r>
          </a:p>
          <a:p>
            <a:r>
              <a:rPr lang="ru-RU" dirty="0"/>
              <a:t>Скрипт выполняется в изолированном процессе рендеринга и практически не имеет прямого доступа к операционной системе.</a:t>
            </a:r>
          </a:p>
          <a:p>
            <a:r>
              <a:rPr lang="ru-RU" dirty="0"/>
              <a:t>Политика одинакового происхождения (</a:t>
            </a:r>
            <a:r>
              <a:rPr lang="ru-RU" dirty="0" err="1"/>
              <a:t>same-origin</a:t>
            </a:r>
            <a:r>
              <a:rPr lang="ru-RU" dirty="0"/>
              <a:t> </a:t>
            </a:r>
            <a:r>
              <a:rPr lang="ru-RU" dirty="0" err="1"/>
              <a:t>policy</a:t>
            </a:r>
            <a:r>
              <a:rPr lang="ru-RU" dirty="0"/>
              <a:t>) запрещает скрипту читать данные чужого сайта, если тот не разрешил это явно (через CORS).</a:t>
            </a:r>
          </a:p>
          <a:p>
            <a:r>
              <a:rPr lang="ru-RU" dirty="0"/>
              <a:t>Политика одинаковой сертификации – </a:t>
            </a:r>
            <a:r>
              <a:rPr lang="en-US" dirty="0"/>
              <a:t>HTTPS </a:t>
            </a:r>
            <a:r>
              <a:rPr lang="ru-RU" dirty="0"/>
              <a:t>не может общаться </a:t>
            </a:r>
            <a:r>
              <a:rPr lang="en-US" dirty="0"/>
              <a:t>c HTTP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CD1240-4E8D-43DD-A473-7F90ACC1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22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F984E-A047-473A-BFB9-13AA83BD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Браузер </a:t>
            </a:r>
            <a:r>
              <a:rPr lang="en-US" dirty="0"/>
              <a:t>vs </a:t>
            </a:r>
            <a:r>
              <a:rPr lang="ru-RU" dirty="0"/>
              <a:t>Node.js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8BE4D0E-B1BB-4E2A-9679-CFF01FFBA7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565086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944910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954960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6938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Браузер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Node.js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35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Движок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JSM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V8 /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SpiderMonkey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JavaScriptCore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403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Глобальный объект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window` (`self`)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`global`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09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 / BOM</a:t>
                      </a:r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13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Типичный ввод-вывод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Сеть (`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fetch`), `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localStorage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Файлы (`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node:fs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`),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сокеты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28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процессом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Отсутствует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(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argv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686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Модель безопасности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Песочница + политики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Полный доступ к ОС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828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Модули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ES-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модули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CommonJS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(`require`)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ES-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модули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75875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3F41872-A8B8-4E6C-964B-00A9B970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90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E07F7-F95B-43E6-B643-3411651F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Изоморфный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F9910B-22E4-4110-BA39-F06FCE77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2475"/>
            <a:ext cx="10515600" cy="1939925"/>
          </a:xfrm>
          <a:solidFill>
            <a:schemeClr val="tx1"/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isBrowser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'undefined'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'undefined'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isNode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'undefined'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versions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497CA-E6F1-4BF3-888E-CF78885B77F5}"/>
              </a:ext>
            </a:extLst>
          </p:cNvPr>
          <p:cNvSpPr txBox="1"/>
          <p:nvPr/>
        </p:nvSpPr>
        <p:spPr>
          <a:xfrm>
            <a:off x="838200" y="184467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Изоморфный код — код, работающий в нескольких средах. Две тактики:</a:t>
            </a:r>
          </a:p>
          <a:p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Определение среды — спросить «где я?» и выбрать ветку.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Определение возможностей (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detection</a:t>
            </a:r>
            <a:r>
              <a:rPr lang="ru-RU" dirty="0"/>
              <a:t>) — спросить «что здесь можно?».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969006-5BB3-49BC-AEE3-C7A00D23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7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77E7A13-AAC7-4FC4-A377-4FB13B473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9800"/>
            <a:ext cx="10515600" cy="5237163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hasLocalStorage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'undefined'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'undefined'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2FAF7C-5CD0-450E-89CC-FB807D6E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34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289B4-C4FB-485F-9927-C354D814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HTML, CSS, JS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72B226-A080-45E3-BECF-86ECF197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/>
              <a:t>язык разметки гипертекста на основе </a:t>
            </a:r>
            <a:r>
              <a:rPr lang="en-US" dirty="0"/>
              <a:t>XML</a:t>
            </a:r>
          </a:p>
          <a:p>
            <a:r>
              <a:rPr lang="en-US" dirty="0"/>
              <a:t>CSS – </a:t>
            </a:r>
            <a:r>
              <a:rPr lang="ru-RU" dirty="0"/>
              <a:t>каскадная таблица стилей</a:t>
            </a:r>
          </a:p>
          <a:p>
            <a:r>
              <a:rPr lang="en-US" dirty="0"/>
              <a:t>JS – </a:t>
            </a:r>
            <a:r>
              <a:rPr lang="ru-RU" dirty="0"/>
              <a:t>старый добрый </a:t>
            </a:r>
            <a:r>
              <a:rPr lang="en-US" dirty="0"/>
              <a:t>ES + </a:t>
            </a:r>
            <a:r>
              <a:rPr lang="en-US" dirty="0" err="1"/>
              <a:t>WebAPI</a:t>
            </a:r>
            <a:endParaRPr lang="en-US" dirty="0"/>
          </a:p>
          <a:p>
            <a:r>
              <a:rPr lang="ru-RU" b="0" u="none" strike="noStrike" dirty="0">
                <a:effectLst/>
                <a:latin typeface="Google Sans"/>
              </a:rPr>
              <a:t>XML (</a:t>
            </a:r>
            <a:r>
              <a:rPr lang="en-US" dirty="0" err="1">
                <a:latin typeface="Google Sans"/>
              </a:rPr>
              <a:t>eX</a:t>
            </a:r>
            <a:r>
              <a:rPr lang="ru-RU" b="0" u="none" strike="noStrike" dirty="0" err="1">
                <a:effectLst/>
                <a:latin typeface="Google Sans"/>
              </a:rPr>
              <a:t>tensible</a:t>
            </a:r>
            <a:r>
              <a:rPr lang="ru-RU" b="0" u="none" strike="noStrike" dirty="0">
                <a:effectLst/>
                <a:latin typeface="Google Sans"/>
              </a:rPr>
              <a:t> </a:t>
            </a:r>
            <a:r>
              <a:rPr lang="ru-RU" b="0" u="none" strike="noStrike" dirty="0" err="1">
                <a:effectLst/>
                <a:latin typeface="Google Sans"/>
              </a:rPr>
              <a:t>Markup</a:t>
            </a:r>
            <a:r>
              <a:rPr lang="ru-RU" b="0" u="none" strike="noStrike" dirty="0">
                <a:effectLst/>
                <a:latin typeface="Google Sans"/>
              </a:rPr>
              <a:t> Language)</a:t>
            </a:r>
            <a:r>
              <a:rPr lang="ru-RU" dirty="0"/>
              <a:t> — это расширяемый язык разметки, который используется для хранения и передачи структурированных данных между разными программами и системами.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F81F31-127B-4E7A-98F7-0F784992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26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CFC92-2F35-450F-BB8B-0945DC4C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Тэг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CA21D-B802-49BC-A086-C0AFA1604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ru-RU" dirty="0"/>
              <a:t>тэг</a:t>
            </a:r>
            <a:r>
              <a:rPr lang="en-US" dirty="0"/>
              <a:t>&gt;</a:t>
            </a:r>
            <a:r>
              <a:rPr lang="ru-RU" dirty="0"/>
              <a:t>      </a:t>
            </a:r>
            <a:r>
              <a:rPr lang="en-US" dirty="0"/>
              <a:t>&lt;!—</a:t>
            </a:r>
            <a:r>
              <a:rPr lang="ru-RU" dirty="0"/>
              <a:t>открывающий--</a:t>
            </a:r>
            <a:r>
              <a:rPr lang="en-US" dirty="0"/>
              <a:t>&gt;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&lt;</a:t>
            </a:r>
            <a:r>
              <a:rPr lang="ru-RU" dirty="0" err="1"/>
              <a:t>дочернийТэг</a:t>
            </a:r>
            <a:r>
              <a:rPr lang="en-US" dirty="0"/>
              <a:t>/&gt;</a:t>
            </a:r>
          </a:p>
          <a:p>
            <a:pPr marL="0" indent="0">
              <a:buNone/>
            </a:pPr>
            <a:r>
              <a:rPr lang="en-US" dirty="0"/>
              <a:t>	&lt;</a:t>
            </a:r>
            <a:r>
              <a:rPr lang="ru-RU" dirty="0" err="1"/>
              <a:t>дочернийТэг</a:t>
            </a:r>
            <a:r>
              <a:rPr lang="en-US" dirty="0"/>
              <a:t>/&gt;</a:t>
            </a:r>
          </a:p>
          <a:p>
            <a:pPr marL="0" indent="0">
              <a:buNone/>
            </a:pPr>
            <a:r>
              <a:rPr lang="en-US" dirty="0"/>
              <a:t>	&lt;</a:t>
            </a:r>
            <a:r>
              <a:rPr lang="ru-RU" dirty="0" err="1"/>
              <a:t>дочернийТэг</a:t>
            </a:r>
            <a:r>
              <a:rPr lang="en-US" dirty="0"/>
              <a:t>/&gt;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ru-RU" dirty="0"/>
              <a:t>тэг</a:t>
            </a:r>
            <a:r>
              <a:rPr lang="en-US" dirty="0"/>
              <a:t>&gt; </a:t>
            </a:r>
            <a:r>
              <a:rPr lang="ru-RU" dirty="0"/>
              <a:t>   </a:t>
            </a:r>
            <a:r>
              <a:rPr lang="en-US" dirty="0"/>
              <a:t>&lt;!—</a:t>
            </a:r>
            <a:r>
              <a:rPr lang="ru-RU" dirty="0"/>
              <a:t>закрывающий--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577BA0-637F-4F36-9E35-F4CCCD49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700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8B2F2-9CE6-49C6-907B-8A975B83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C542A-88B1-47FC-8A7F-E9414E49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Данные определённые внутри </a:t>
            </a:r>
            <a:r>
              <a:rPr lang="ru-RU" dirty="0" err="1"/>
              <a:t>тегэ</a:t>
            </a:r>
            <a:r>
              <a:rPr lang="ru-RU" dirty="0"/>
              <a:t> – его атрибуты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ru-RU" dirty="0"/>
              <a:t>тэг атрибут</a:t>
            </a:r>
            <a:r>
              <a:rPr lang="en-US" dirty="0"/>
              <a:t>1</a:t>
            </a:r>
            <a:r>
              <a:rPr lang="ru-RU" dirty="0"/>
              <a:t>=</a:t>
            </a:r>
            <a:r>
              <a:rPr lang="en-US" dirty="0"/>
              <a:t>“</a:t>
            </a:r>
            <a:r>
              <a:rPr lang="ru-RU" dirty="0"/>
              <a:t>значение</a:t>
            </a:r>
            <a:r>
              <a:rPr lang="en-US" dirty="0"/>
              <a:t>” </a:t>
            </a:r>
            <a:r>
              <a:rPr lang="ru-RU" dirty="0"/>
              <a:t>атрибут</a:t>
            </a:r>
            <a:r>
              <a:rPr lang="en-US" dirty="0"/>
              <a:t>2</a:t>
            </a:r>
            <a:r>
              <a:rPr lang="ru-RU" dirty="0"/>
              <a:t>=</a:t>
            </a:r>
            <a:r>
              <a:rPr lang="en-US" dirty="0"/>
              <a:t>“</a:t>
            </a:r>
            <a:r>
              <a:rPr lang="ru-RU" dirty="0"/>
              <a:t>значение</a:t>
            </a:r>
            <a:r>
              <a:rPr lang="en-US" dirty="0"/>
              <a:t>”</a:t>
            </a:r>
            <a:r>
              <a:rPr lang="ru-RU" dirty="0"/>
              <a:t> атрибут3 </a:t>
            </a:r>
            <a:r>
              <a:rPr lang="en-US" dirty="0"/>
              <a:t>/&gt;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EB240F-5C97-4458-AF71-6745F798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367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90FA3-D716-4FC8-97A1-68631129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Сколько тэгов в </a:t>
            </a:r>
            <a:r>
              <a:rPr lang="en-US" dirty="0"/>
              <a:t>HTML5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1C2BB-0902-4F4A-BCBA-181CBC638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Около 107 активно используемых</a:t>
            </a:r>
          </a:p>
          <a:p>
            <a:r>
              <a:rPr lang="ru-RU" dirty="0"/>
              <a:t>Мета-тэги</a:t>
            </a:r>
            <a:r>
              <a:rPr lang="en-US" dirty="0"/>
              <a:t>: html, head, body, script, style</a:t>
            </a:r>
          </a:p>
          <a:p>
            <a:r>
              <a:rPr lang="ru-RU" dirty="0"/>
              <a:t>Структурные: </a:t>
            </a:r>
            <a:r>
              <a:rPr lang="en-US" dirty="0"/>
              <a:t>header, footer, section, article, main, nav, aside</a:t>
            </a:r>
          </a:p>
          <a:p>
            <a:r>
              <a:rPr lang="ru-RU" dirty="0"/>
              <a:t>Текст: </a:t>
            </a:r>
            <a:r>
              <a:rPr lang="en-US" dirty="0"/>
              <a:t>h1-h6, p, ul-</a:t>
            </a:r>
            <a:r>
              <a:rPr lang="en-US" dirty="0" err="1"/>
              <a:t>ol</a:t>
            </a:r>
            <a:r>
              <a:rPr lang="en-US" dirty="0"/>
              <a:t>, blockquote, pre</a:t>
            </a:r>
          </a:p>
          <a:p>
            <a:r>
              <a:rPr lang="ru-RU" dirty="0"/>
              <a:t>Форматирование текста: </a:t>
            </a:r>
            <a:r>
              <a:rPr lang="en-US" dirty="0"/>
              <a:t>strong, </a:t>
            </a:r>
            <a:r>
              <a:rPr lang="en-US" dirty="0" err="1"/>
              <a:t>em</a:t>
            </a:r>
            <a:r>
              <a:rPr lang="en-US" dirty="0"/>
              <a:t>, code, a, span</a:t>
            </a:r>
          </a:p>
          <a:p>
            <a:r>
              <a:rPr lang="ru-RU" dirty="0" err="1"/>
              <a:t>Мультимедия</a:t>
            </a:r>
            <a:r>
              <a:rPr lang="ru-RU" dirty="0"/>
              <a:t>: </a:t>
            </a:r>
            <a:r>
              <a:rPr lang="en-US" dirty="0" err="1"/>
              <a:t>img</a:t>
            </a:r>
            <a:r>
              <a:rPr lang="en-US" dirty="0"/>
              <a:t>, video, audio, iframe</a:t>
            </a:r>
          </a:p>
          <a:p>
            <a:r>
              <a:rPr lang="ru-RU" dirty="0"/>
              <a:t>Формы: </a:t>
            </a:r>
            <a:r>
              <a:rPr lang="en-US" dirty="0"/>
              <a:t>form, input, select</a:t>
            </a:r>
          </a:p>
          <a:p>
            <a:r>
              <a:rPr lang="ru-RU" dirty="0"/>
              <a:t>Таблицы</a:t>
            </a:r>
            <a:r>
              <a:rPr lang="en-US" dirty="0"/>
              <a:t>: table, tr, </a:t>
            </a:r>
            <a:r>
              <a:rPr lang="en-US" dirty="0" err="1"/>
              <a:t>th</a:t>
            </a:r>
            <a:r>
              <a:rPr lang="en-US" dirty="0"/>
              <a:t>, td</a:t>
            </a:r>
          </a:p>
          <a:p>
            <a:r>
              <a:rPr lang="ru-RU" dirty="0"/>
              <a:t>Божественный тэг – </a:t>
            </a:r>
            <a:r>
              <a:rPr lang="en-US" dirty="0"/>
              <a:t>div – </a:t>
            </a:r>
            <a:r>
              <a:rPr lang="ru-RU" dirty="0"/>
              <a:t>самый нейтральный, на нём 99% верстки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14F0C9-172D-425C-8395-8BC34471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0F1E5-DDAB-45ED-8CC0-39FE40C5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Универсальные атрибуты тэгов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87997-0778-4D7B-BCAB-D25C525EA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 – </a:t>
            </a:r>
            <a:r>
              <a:rPr lang="ru-RU" dirty="0"/>
              <a:t>идентификатор</a:t>
            </a:r>
            <a:endParaRPr lang="en-US" dirty="0"/>
          </a:p>
          <a:p>
            <a:r>
              <a:rPr lang="ru-RU" dirty="0"/>
              <a:t>с</a:t>
            </a:r>
            <a:r>
              <a:rPr lang="en-US" dirty="0"/>
              <a:t>lass – </a:t>
            </a:r>
            <a:r>
              <a:rPr lang="ru-RU" dirty="0"/>
              <a:t>имена стилей </a:t>
            </a:r>
            <a:r>
              <a:rPr lang="en-US" dirty="0"/>
              <a:t>CSS</a:t>
            </a:r>
          </a:p>
          <a:p>
            <a:r>
              <a:rPr lang="en-US" dirty="0"/>
              <a:t>style – </a:t>
            </a:r>
            <a:r>
              <a:rPr lang="ru-RU" dirty="0" err="1"/>
              <a:t>инлайн</a:t>
            </a:r>
            <a:r>
              <a:rPr lang="ru-RU" dirty="0"/>
              <a:t>-стили</a:t>
            </a:r>
            <a:endParaRPr lang="en-US" dirty="0"/>
          </a:p>
          <a:p>
            <a:r>
              <a:rPr lang="en-US" dirty="0"/>
              <a:t>title – </a:t>
            </a:r>
            <a:r>
              <a:rPr lang="ru-RU" dirty="0"/>
              <a:t>подсказка</a:t>
            </a:r>
          </a:p>
          <a:p>
            <a:r>
              <a:rPr lang="en-US" dirty="0"/>
              <a:t>hidden – </a:t>
            </a:r>
            <a:r>
              <a:rPr lang="ru-RU" dirty="0"/>
              <a:t>логический</a:t>
            </a:r>
            <a:r>
              <a:rPr lang="en-US" dirty="0"/>
              <a:t> </a:t>
            </a:r>
            <a:r>
              <a:rPr lang="ru-RU" dirty="0"/>
              <a:t>атрибут, скрывающий элемент</a:t>
            </a:r>
          </a:p>
          <a:p>
            <a:r>
              <a:rPr lang="en-US" dirty="0"/>
              <a:t>data-* – </a:t>
            </a:r>
            <a:r>
              <a:rPr lang="ru-RU" dirty="0"/>
              <a:t>пользовательские атрибуты данных, позволяющие сохранять произвольную информацию в HTML для обработки через скрипты</a:t>
            </a:r>
          </a:p>
          <a:p>
            <a:r>
              <a:rPr lang="en-US" dirty="0" err="1"/>
              <a:t>tabindex</a:t>
            </a:r>
            <a:r>
              <a:rPr lang="en-US" dirty="0"/>
              <a:t> – </a:t>
            </a:r>
            <a:r>
              <a:rPr lang="ru-RU" dirty="0"/>
              <a:t>порядковый номер по </a:t>
            </a:r>
            <a:r>
              <a:rPr lang="en-US" dirty="0"/>
              <a:t>Tab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B7B9A4-A278-461E-8D76-7C61BDEE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256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15F2E-12EE-4458-B45E-5598CB4E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AE275E-44D8-42A0-9013-32772DA7F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&lt;style&gt;</a:t>
            </a:r>
          </a:p>
          <a:p>
            <a:pPr marL="0" indent="0">
              <a:buNone/>
            </a:pPr>
            <a:r>
              <a:rPr lang="en-US" dirty="0" err="1"/>
              <a:t>selectorName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	property</a:t>
            </a:r>
            <a:r>
              <a:rPr lang="ru-RU" dirty="0"/>
              <a:t>1</a:t>
            </a:r>
            <a:r>
              <a:rPr lang="en-US" dirty="0"/>
              <a:t>: value</a:t>
            </a:r>
            <a:r>
              <a:rPr lang="ru-RU" dirty="0"/>
              <a:t>1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…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 </a:t>
            </a:r>
            <a:r>
              <a:rPr lang="en-US" dirty="0" err="1"/>
              <a:t>propertyN</a:t>
            </a:r>
            <a:r>
              <a:rPr lang="en-US" dirty="0"/>
              <a:t>: </a:t>
            </a:r>
            <a:r>
              <a:rPr lang="en-US" dirty="0" err="1"/>
              <a:t>valueN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&lt;/style&gt;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0F48C-2E79-4048-9229-A504B7186C81}"/>
              </a:ext>
            </a:extLst>
          </p:cNvPr>
          <p:cNvSpPr txBox="1"/>
          <p:nvPr/>
        </p:nvSpPr>
        <p:spPr>
          <a:xfrm>
            <a:off x="6210300" y="2505670"/>
            <a:ext cx="47752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3200" dirty="0" err="1"/>
              <a:t>selectorName</a:t>
            </a:r>
            <a:r>
              <a:rPr lang="en-US" sz="3200" dirty="0"/>
              <a:t> – </a:t>
            </a:r>
            <a:r>
              <a:rPr lang="ru-RU" sz="3200" dirty="0"/>
              <a:t>тэг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. </a:t>
            </a:r>
            <a:r>
              <a:rPr lang="en-US" sz="3200" dirty="0" err="1"/>
              <a:t>selectorName</a:t>
            </a:r>
            <a:r>
              <a:rPr lang="en-US" sz="3200" dirty="0"/>
              <a:t> – </a:t>
            </a:r>
            <a:r>
              <a:rPr lang="ru-RU" sz="3200" dirty="0"/>
              <a:t>класс</a:t>
            </a:r>
          </a:p>
          <a:p>
            <a:pPr marL="0" indent="0">
              <a:buNone/>
            </a:pPr>
            <a:r>
              <a:rPr lang="en-US" sz="3200" dirty="0"/>
              <a:t>#selectorName – id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18FE13-C4C5-4659-8EAA-512E8EAD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911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BC504-F0FA-47A1-B4BD-9217C4E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Какие-то свойства </a:t>
            </a:r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719C5D-1B9A-4A5D-9229-7E721BBB0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color – </a:t>
            </a:r>
            <a:r>
              <a:rPr lang="ru-RU" dirty="0"/>
              <a:t>цвет текста</a:t>
            </a:r>
          </a:p>
          <a:p>
            <a:r>
              <a:rPr lang="en-US" dirty="0"/>
              <a:t>width – </a:t>
            </a:r>
            <a:r>
              <a:rPr lang="ru-RU" dirty="0"/>
              <a:t>ширина элемента</a:t>
            </a:r>
          </a:p>
          <a:p>
            <a:r>
              <a:rPr lang="en-US" dirty="0"/>
              <a:t>height – </a:t>
            </a:r>
            <a:r>
              <a:rPr lang="ru-RU" dirty="0"/>
              <a:t>высота элемента</a:t>
            </a:r>
          </a:p>
          <a:p>
            <a:r>
              <a:rPr lang="en-US" dirty="0"/>
              <a:t>padding – </a:t>
            </a:r>
            <a:r>
              <a:rPr lang="ru-RU" dirty="0"/>
              <a:t>внутренние отступы</a:t>
            </a:r>
          </a:p>
          <a:p>
            <a:r>
              <a:rPr lang="en-US" dirty="0"/>
              <a:t>margin – </a:t>
            </a:r>
            <a:r>
              <a:rPr lang="ru-RU" dirty="0"/>
              <a:t>внешние отступы</a:t>
            </a:r>
          </a:p>
          <a:p>
            <a:r>
              <a:rPr lang="en-US" dirty="0"/>
              <a:t>border – </a:t>
            </a:r>
            <a:r>
              <a:rPr lang="ru-RU" dirty="0"/>
              <a:t>окантовка элемента</a:t>
            </a:r>
            <a:endParaRPr lang="en-US" dirty="0"/>
          </a:p>
          <a:p>
            <a:r>
              <a:rPr lang="en-US" dirty="0"/>
              <a:t>display – </a:t>
            </a:r>
            <a:r>
              <a:rPr lang="ru-RU" dirty="0"/>
              <a:t>как отображается элемент</a:t>
            </a:r>
          </a:p>
          <a:p>
            <a:r>
              <a:rPr lang="en-US" dirty="0"/>
              <a:t>position – </a:t>
            </a:r>
            <a:r>
              <a:rPr lang="ru-RU" dirty="0"/>
              <a:t>способ позиционирования</a:t>
            </a:r>
          </a:p>
          <a:p>
            <a:r>
              <a:rPr lang="ru-RU" dirty="0"/>
              <a:t>И т.д.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34353F-8096-43C9-B2D7-CA4DFF49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85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217F8-61EA-47DB-8BC1-3D97196A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Взаимодействие </a:t>
            </a:r>
            <a:r>
              <a:rPr lang="en-US" dirty="0"/>
              <a:t>DOM </a:t>
            </a:r>
            <a:r>
              <a:rPr lang="ru-RU" dirty="0"/>
              <a:t>и </a:t>
            </a:r>
            <a:r>
              <a:rPr lang="en-US" dirty="0"/>
              <a:t>JS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5A29DD-A2B7-4C63-AB65-FD58E146F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25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&lt;input type=text id=text/&gt;</a:t>
            </a:r>
          </a:p>
          <a:p>
            <a:pPr marL="0" indent="0">
              <a:buNone/>
            </a:pPr>
            <a:r>
              <a:rPr lang="en-US" dirty="0"/>
              <a:t>&lt;select id=</a:t>
            </a:r>
            <a:r>
              <a:rPr lang="en-US" dirty="0" err="1"/>
              <a:t>combobox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	&lt;option value=Item1/&gt;</a:t>
            </a:r>
          </a:p>
          <a:p>
            <a:pPr marL="0" indent="0">
              <a:buNone/>
            </a:pPr>
            <a:r>
              <a:rPr lang="en-US" dirty="0"/>
              <a:t>	&lt;option value=Item2 </a:t>
            </a:r>
          </a:p>
          <a:p>
            <a:pPr marL="0" indent="0">
              <a:buNone/>
            </a:pPr>
            <a:r>
              <a:rPr lang="en-US" dirty="0"/>
              <a:t>		selected /&gt;</a:t>
            </a:r>
          </a:p>
          <a:p>
            <a:pPr marL="0" indent="0">
              <a:buNone/>
            </a:pPr>
            <a:r>
              <a:rPr lang="en-US" dirty="0"/>
              <a:t>	&lt;option value=Item3/&gt;</a:t>
            </a:r>
          </a:p>
          <a:p>
            <a:pPr marL="0" indent="0">
              <a:buNone/>
            </a:pPr>
            <a:r>
              <a:rPr lang="en-US" dirty="0"/>
              <a:t>&lt;/select&gt;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77AE0-BC61-489C-B1BD-5E817A6A2A36}"/>
              </a:ext>
            </a:extLst>
          </p:cNvPr>
          <p:cNvSpPr txBox="1"/>
          <p:nvPr/>
        </p:nvSpPr>
        <p:spPr>
          <a:xfrm>
            <a:off x="6203950" y="1690688"/>
            <a:ext cx="56874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intput</a:t>
            </a:r>
            <a:r>
              <a:rPr lang="en-US" dirty="0"/>
              <a:t> = </a:t>
            </a:r>
            <a:r>
              <a:rPr lang="en-US" dirty="0" err="1"/>
              <a:t>document.querySelector</a:t>
            </a:r>
            <a:r>
              <a:rPr lang="en-US" dirty="0"/>
              <a:t>(‘#text’)</a:t>
            </a:r>
          </a:p>
          <a:p>
            <a:r>
              <a:rPr lang="en-US" dirty="0"/>
              <a:t>const </a:t>
            </a:r>
            <a:r>
              <a:rPr lang="en-US" dirty="0" err="1"/>
              <a:t>combobox</a:t>
            </a:r>
            <a:r>
              <a:rPr lang="en-US" dirty="0"/>
              <a:t> = </a:t>
            </a:r>
            <a:r>
              <a:rPr lang="en-US" dirty="0" err="1"/>
              <a:t>document.querySelector</a:t>
            </a:r>
            <a:r>
              <a:rPr lang="en-US" dirty="0"/>
              <a:t>(‘# </a:t>
            </a:r>
            <a:r>
              <a:rPr lang="en-US" dirty="0" err="1"/>
              <a:t>combobox</a:t>
            </a:r>
            <a:r>
              <a:rPr lang="en-US" dirty="0"/>
              <a:t>’)</a:t>
            </a:r>
          </a:p>
          <a:p>
            <a:endParaRPr lang="en-US" dirty="0"/>
          </a:p>
          <a:p>
            <a:r>
              <a:rPr lang="en-US" dirty="0" err="1"/>
              <a:t>intput.oninput</a:t>
            </a:r>
            <a:r>
              <a:rPr lang="en-US" dirty="0"/>
              <a:t> = (msg) =&gt; console.log(msg)</a:t>
            </a:r>
          </a:p>
          <a:p>
            <a:r>
              <a:rPr lang="en-US" dirty="0" err="1"/>
              <a:t>combobox.oninput</a:t>
            </a:r>
            <a:r>
              <a:rPr lang="en-US" dirty="0"/>
              <a:t> = (msg) =&gt; console.log(msg)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1BAE4F-A370-4F90-AD1B-378393C7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79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2678A-646D-47BC-B555-2D58147C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F57CA-8021-4369-B40E-5641F7B85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Сделать две кнопки и форму ввода чисел. Одна кнопка инкрементирует значение, вторая декрементирует.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2) Сделайте страницу с вводом логина и пароля, которая по нажатию на «Войти» проверит введённые данные и выдаст в новый абзац результат – успех или провал.</a:t>
            </a:r>
          </a:p>
          <a:p>
            <a:pPr marL="0" indent="0">
              <a:buNone/>
            </a:pPr>
            <a:r>
              <a:rPr lang="ru-RU" dirty="0"/>
              <a:t>* Сделать вход в модальном окне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658D83-A774-4DAE-9995-C3216A74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7ADA-830E-4178-BDC0-92F746D1F48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9244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924</Words>
  <Application>Microsoft Office PowerPoint</Application>
  <PresentationFormat>Широкоэкранный</PresentationFormat>
  <Paragraphs>163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Google Sans</vt:lpstr>
      <vt:lpstr>Тема Office</vt:lpstr>
      <vt:lpstr>Тема 5. Браузер</vt:lpstr>
      <vt:lpstr>Что описывает ECMAScript:</vt:lpstr>
      <vt:lpstr>Что даёт среды выполения:</vt:lpstr>
      <vt:lpstr>Презентация PowerPoint</vt:lpstr>
      <vt:lpstr>Песочница</vt:lpstr>
      <vt:lpstr>Браузер vs Node.js</vt:lpstr>
      <vt:lpstr>Изоморфный код</vt:lpstr>
      <vt:lpstr>Презентация PowerPoint</vt:lpstr>
      <vt:lpstr>HTML, CSS, JS</vt:lpstr>
      <vt:lpstr>Тэг</vt:lpstr>
      <vt:lpstr>Атрибуты</vt:lpstr>
      <vt:lpstr>Сколько тэгов в HTML5?</vt:lpstr>
      <vt:lpstr>Универсальные атрибуты тэгов </vt:lpstr>
      <vt:lpstr>CSS</vt:lpstr>
      <vt:lpstr>Какие-то свойства CSS</vt:lpstr>
      <vt:lpstr>Взаимодействие DOM и JS</vt:lpstr>
      <vt:lpstr>Задание: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5. Браузер</dc:title>
  <dc:creator>Nikita A. Shuklin</dc:creator>
  <cp:lastModifiedBy>Nikita A. Shuklin</cp:lastModifiedBy>
  <cp:revision>39</cp:revision>
  <dcterms:created xsi:type="dcterms:W3CDTF">2026-09-29T02:30:15Z</dcterms:created>
  <dcterms:modified xsi:type="dcterms:W3CDTF">2026-09-29T03:56:51Z</dcterms:modified>
</cp:coreProperties>
</file>