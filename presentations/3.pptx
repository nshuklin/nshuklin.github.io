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138A36-2531-445D-B792-FDA6F5B90C0E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C563B-708C-4BC5-9409-091B890C5E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0123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C563B-708C-4BC5-9409-091B890C5EF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8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A92C6-CF3F-47D3-A209-2EC52D024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B640D5-4CC5-4575-8870-1CAAC5D0B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B88399-52E2-4055-AB26-002F0B5E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F4012-422C-4D8B-9820-AF2F317D9FEA}" type="datetime1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CFFDFA-D5EE-4CF2-9D1F-F77F68D7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BC659E-631D-493C-B2C8-478FB86D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087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951F6F-472F-47F5-B11D-EB2497A6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73DAA5-1870-4AB9-8743-A2CE2B8F6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4AF1B3-CA82-41C4-A78F-FE52F093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6FAB-DE62-4B6B-A2E1-4CC4C5B7DC1D}" type="datetime1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28492E-B093-4E96-85D4-D83CA5151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5D65D2-8289-4865-A83F-D7EE1DD7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82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6AD04F-314C-4D87-B79A-6A4183501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9165D2-CF66-4548-AEB1-133EACE73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8BF656-CAC4-4BBE-889A-C566B89C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83E6F-42BE-432C-B0CA-A4B7BAB3A1AD}" type="datetime1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15DD66-D3AB-42D7-A2D6-428BD768F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0E0993-D00E-4CFC-8465-3A40F456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510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CF0E5-DD80-4A4D-903D-CDBE45499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CE4645-4825-4364-A3AE-ECE8D88E5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A082DB2-46E2-4344-BFBC-EAF7F0443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04922D-3CC1-4A15-AEC7-AF6054D7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A4F7-0EFB-4F44-A611-6E95907ED1E1}" type="datetime1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6E05F2-86B3-45EE-96AB-ECCC64A5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D0D38A-D801-47C5-8C83-AE7F86D3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56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EF2775-6747-4E5B-85A6-107F124A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5B2D73-64A6-49AE-942B-7CAC0F363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F5D92D-23D4-4999-9B22-4F03B51F8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D91F752-74A1-43AC-8B2D-0FDABA842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776A402-5612-4EC7-B16E-3898943CBD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2281B07-E580-426E-B699-56D9631A6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F91F0-5ED1-48FA-80A9-1E85CBEE89F9}" type="datetime1">
              <a:rPr lang="ru-RU" smtClean="0"/>
              <a:t>15.09.2026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CCBF7EF-5034-4A54-9630-BBAC9C48F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7AEC9D0-D4BD-4910-AE57-E76A3530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524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7A576-81EE-418D-990F-1F739B5C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BE741CE-C902-4D4D-8B1A-84FD5AB9F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B7A5-D611-4724-98A5-2E8B872DF279}" type="datetime1">
              <a:rPr lang="ru-RU" smtClean="0"/>
              <a:t>15.09.2026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FDEB87E-E4C5-4337-B870-55B90D18F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793096-B336-48A6-886A-A48D8DDB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3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1F6BE5-AF55-4F48-A55A-BBE94736F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D36F-008B-43F7-8179-A2A51DDF7B72}" type="datetime1">
              <a:rPr lang="ru-RU" smtClean="0"/>
              <a:t>15.09.2026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AFB6367-8171-4ECA-B2E5-23ED623F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9445FA-D2D6-4CAB-A085-9053D279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954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0970A-19F5-49CA-9CD2-7300C12EB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9CF07A-5F22-492E-B56E-89934F1A4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3DBF39-D423-4181-B1FE-D2E952332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B30D8B-F715-470B-8E7F-EA3D799A9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29A56-8038-4FFF-92C2-E19547B8E057}" type="datetime1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19C879-8369-421D-A14E-BD5B8334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B49309-2A20-4668-92A6-5C99A207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C4FD74-A132-4B48-9E93-3567E82BB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689B89E-E7AF-48C1-8F59-B419128249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C8C249-249B-4797-A2BD-0E141591E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24DDB6-326B-40B1-AA4B-F2A6B4A2F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E9791-72A8-4AD8-B0E9-57F65262A386}" type="datetime1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77D4C7-258D-4F68-A4D1-F071F3756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D1159E-7549-4227-BBCF-D6CA06C4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51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D98891-A3CD-42B3-BE1A-9ECC5F7AC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D0479B-93B5-4E01-A214-64AC521F9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EC2FBE-3250-42D2-834D-C8477D12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E268-4A2E-40D7-8D20-25CEF3068590}" type="datetime1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D883C8-2CB3-4A92-AE17-432BC9797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799746-6442-4284-9933-8996CC78F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358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6EF95D9-B5F0-431F-A8A1-FE13D1FB2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80581D-BED7-4400-B39E-ACE615B8B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663A43-AE31-4C0C-8404-817E7D756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9AA8-F9CF-48EB-8852-7D83ACE9498D}" type="datetime1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786D92-6458-42DC-A896-4D190489E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A15209-6876-4712-82C8-04D176A0B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578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79429-B3D9-4AAD-AC5F-50F790E93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24A1D9-8866-4B57-81CB-9D3B9323D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9D06AB-7791-43AD-B068-6554E45EA1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717CD-4B1C-4881-B0A7-D29897259D1D}" type="datetime1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9CFD4B-123F-4106-A4D2-F2C8CC30C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586B68-523B-4505-B699-F4D5328A2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9995C-8B95-4540-85BD-4D1B5561E8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72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522575-D703-47AD-9C82-E4ED824F4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же такое эти ваши «поля»?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A19F72-8B21-4653-95D9-43DA3C93B7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1625927"/>
            <a:ext cx="6502400" cy="4866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C3A18C-A9C3-449F-9DA3-EBD228645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47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00483-994A-4D3F-A71B-4909B6964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</a:t>
            </a:r>
            <a:r>
              <a:rPr lang="en-US" dirty="0"/>
              <a:t>vs. </a:t>
            </a:r>
            <a:r>
              <a:rPr lang="ru-RU" dirty="0"/>
              <a:t>полей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66FA2C-09E6-4F79-A87C-CA01788D2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Поле – это внутренняя переменная объекта.</a:t>
            </a:r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	name: “</a:t>
            </a:r>
            <a:r>
              <a:rPr lang="ru-RU" dirty="0"/>
              <a:t>Иван</a:t>
            </a:r>
            <a:r>
              <a:rPr lang="en-US" dirty="0"/>
              <a:t>”</a:t>
            </a:r>
          </a:p>
          <a:p>
            <a:pPr marL="457200" lvl="1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Свойство – это механизм, ведущий себя, как поле, но с собственной логикой установки нового значения и вывода значения свойства.</a:t>
            </a:r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getName</a:t>
            </a:r>
            <a:r>
              <a:rPr lang="en-US" dirty="0"/>
              <a:t>: () =&gt; `</a:t>
            </a:r>
            <a:r>
              <a:rPr lang="ru-RU" dirty="0"/>
              <a:t>Имя </a:t>
            </a:r>
            <a:r>
              <a:rPr lang="en-US" dirty="0"/>
              <a:t>${name}`</a:t>
            </a:r>
          </a:p>
          <a:p>
            <a:pPr marL="457200" lvl="1" indent="0">
              <a:buNone/>
            </a:pPr>
            <a:r>
              <a:rPr lang="ru-RU" dirty="0"/>
              <a:t>	</a:t>
            </a:r>
            <a:r>
              <a:rPr lang="en-US" dirty="0" err="1"/>
              <a:t>setName</a:t>
            </a:r>
            <a:r>
              <a:rPr lang="en-US" dirty="0"/>
              <a:t>: (value) =&gt; name = </a:t>
            </a:r>
            <a:r>
              <a:rPr lang="en-US" dirty="0" err="1"/>
              <a:t>value.trim</a:t>
            </a:r>
            <a:r>
              <a:rPr lang="en-US" dirty="0"/>
              <a:t>()</a:t>
            </a:r>
          </a:p>
          <a:p>
            <a:pPr marL="457200" lvl="1" indent="0">
              <a:buNone/>
            </a:pPr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5E5082-E617-449E-B237-62615D9C1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1584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24940-BD16-41E3-92D7-D5FB83B59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Object Notification - JSON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0EA852-E926-43F0-8B51-789074C91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“name”: “JSON”,</a:t>
            </a:r>
          </a:p>
          <a:p>
            <a:pPr marL="0" indent="0">
              <a:buNone/>
            </a:pPr>
            <a:r>
              <a:rPr lang="en-US" dirty="0"/>
              <a:t>	“description”: “C</a:t>
            </a:r>
            <a:r>
              <a:rPr lang="ru-RU" dirty="0" err="1"/>
              <a:t>пособ</a:t>
            </a:r>
            <a:r>
              <a:rPr lang="ru-RU" dirty="0"/>
              <a:t> представления объекта в виде текста</a:t>
            </a:r>
            <a:r>
              <a:rPr lang="en-US" dirty="0"/>
              <a:t>”</a:t>
            </a:r>
            <a:r>
              <a:rPr lang="ru-RU" dirty="0"/>
              <a:t>,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“serialization”: “</a:t>
            </a:r>
            <a:r>
              <a:rPr lang="ru-RU" dirty="0"/>
              <a:t>Объект в текст</a:t>
            </a:r>
            <a:r>
              <a:rPr lang="en-US" dirty="0"/>
              <a:t>”,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“deserialization”: “</a:t>
            </a:r>
            <a:r>
              <a:rPr lang="ru-RU" dirty="0"/>
              <a:t>Текст в объект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768EB9-4C26-4965-828F-9197E331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735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B94925-E69D-4166-AA44-0C9B9978F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ru-RU" dirty="0"/>
              <a:t>спецификация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9BD93F-563F-401C-87AE-42BF72FEA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{} – </a:t>
            </a:r>
            <a:r>
              <a:rPr lang="ru-RU" dirty="0"/>
              <a:t>объект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[] – </a:t>
            </a:r>
            <a:r>
              <a:rPr lang="ru-RU" dirty="0"/>
              <a:t>массив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“string” – </a:t>
            </a:r>
            <a:r>
              <a:rPr lang="ru-RU" dirty="0"/>
              <a:t>строка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3.14 – </a:t>
            </a:r>
            <a:r>
              <a:rPr lang="ru-RU" dirty="0"/>
              <a:t>число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Если </a:t>
            </a:r>
            <a:r>
              <a:rPr lang="en-US" dirty="0"/>
              <a:t>JSON – </a:t>
            </a:r>
            <a:r>
              <a:rPr lang="ru-RU" dirty="0"/>
              <a:t>объект, то внутри могут быть под</a:t>
            </a:r>
            <a:r>
              <a:rPr lang="en-US" dirty="0"/>
              <a:t>-JSON’</a:t>
            </a:r>
            <a:r>
              <a:rPr lang="ru-RU" dirty="0"/>
              <a:t>ы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Подробнее: </a:t>
            </a:r>
            <a:r>
              <a:rPr lang="en-US" dirty="0"/>
              <a:t>json.org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607BB6-D7F3-40E4-847F-83C1302D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646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8C00828E-04BF-4A86-9E0D-3839F8D8E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9212" y="600868"/>
            <a:ext cx="9573575" cy="5656263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324030-8FD0-405E-B01E-567FD0AD4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404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2E88E0-5EC3-4FC5-A691-910C5A2E8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Асинхронность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963097-763C-493E-98BF-5D30704F6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значит синхронный код и асинхронный?</a:t>
            </a:r>
          </a:p>
          <a:p>
            <a:r>
              <a:rPr lang="en-US" dirty="0"/>
              <a:t>JS </a:t>
            </a:r>
            <a:r>
              <a:rPr lang="ru-RU" dirty="0" err="1"/>
              <a:t>скольки</a:t>
            </a:r>
            <a:r>
              <a:rPr lang="ru-RU" dirty="0"/>
              <a:t> поточный язык?</a:t>
            </a:r>
          </a:p>
          <a:p>
            <a:r>
              <a:rPr lang="ru-RU" dirty="0"/>
              <a:t>Почему синхронный код это не плохо и не хорошо?</a:t>
            </a:r>
          </a:p>
          <a:p>
            <a:r>
              <a:rPr lang="ru-RU" dirty="0"/>
              <a:t>Почему блокируется </a:t>
            </a:r>
            <a:r>
              <a:rPr lang="en-US" dirty="0"/>
              <a:t>UI</a:t>
            </a:r>
            <a:r>
              <a:rPr lang="ru-RU" dirty="0"/>
              <a:t>?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38820F-C1C8-472A-B87A-385F3C67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00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F91796-AD0E-43C4-9194-FEC0BB361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- </a:t>
            </a:r>
            <a:r>
              <a:rPr lang="en-US" dirty="0" err="1"/>
              <a:t>CallStack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7E2814-EEBA-44BC-877E-5143A7F56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Stack –</a:t>
            </a:r>
            <a:r>
              <a:rPr lang="ru-RU" dirty="0"/>
              <a:t> это структура данных </a:t>
            </a:r>
            <a:r>
              <a:rPr lang="en-US" dirty="0"/>
              <a:t>LIFO (Last In – First Out)</a:t>
            </a:r>
          </a:p>
          <a:p>
            <a:r>
              <a:rPr lang="en-US" dirty="0" err="1"/>
              <a:t>CallStack</a:t>
            </a:r>
            <a:r>
              <a:rPr lang="en-US" dirty="0"/>
              <a:t> – </a:t>
            </a:r>
            <a:r>
              <a:rPr lang="ru-RU" dirty="0"/>
              <a:t>последовательность вызова функций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74D94C9F-93B5-460D-8065-7A085B26AB9E}"/>
              </a:ext>
            </a:extLst>
          </p:cNvPr>
          <p:cNvSpPr txBox="1">
            <a:spLocks/>
          </p:cNvSpPr>
          <p:nvPr/>
        </p:nvSpPr>
        <p:spPr>
          <a:xfrm>
            <a:off x="6096000" y="190500"/>
            <a:ext cx="5257800" cy="599598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function third() {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console.log(</a:t>
            </a:r>
            <a:r>
              <a:rPr lang="ru-RU" b="0" dirty="0">
                <a:effectLst/>
                <a:latin typeface="Consolas" panose="020B0609020204030204" pitchFamily="49" charset="0"/>
              </a:rPr>
              <a:t>3);</a:t>
            </a:r>
          </a:p>
          <a:p>
            <a:pPr marL="0" indent="0">
              <a:buNone/>
            </a:pPr>
            <a:r>
              <a:rPr lang="ru-RU" b="0" dirty="0">
                <a:effectLst/>
                <a:latin typeface="Consolas" panose="020B0609020204030204" pitchFamily="49" charset="0"/>
              </a:rPr>
              <a:t>}</a:t>
            </a:r>
          </a:p>
          <a:p>
            <a:endParaRPr lang="ru-RU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function second() {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</a:t>
            </a:r>
            <a:r>
              <a:rPr lang="ru-RU" b="0" dirty="0">
                <a:effectLst/>
                <a:latin typeface="Consolas" panose="020B0609020204030204" pitchFamily="49" charset="0"/>
              </a:rPr>
              <a:t>	</a:t>
            </a:r>
            <a:r>
              <a:rPr lang="en-US" b="0" dirty="0">
                <a:effectLst/>
                <a:latin typeface="Consolas" panose="020B0609020204030204" pitchFamily="49" charset="0"/>
              </a:rPr>
              <a:t>third();</a:t>
            </a:r>
            <a:endParaRPr lang="ru-RU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</a:rPr>
              <a:t>	</a:t>
            </a:r>
            <a:r>
              <a:rPr lang="en-US" b="0" dirty="0">
                <a:effectLst/>
                <a:latin typeface="Consolas" panose="020B0609020204030204" pitchFamily="49" charset="0"/>
              </a:rPr>
              <a:t>console.log(</a:t>
            </a:r>
            <a:r>
              <a:rPr lang="ru-RU" dirty="0">
                <a:latin typeface="Consolas" panose="020B0609020204030204" pitchFamily="49" charset="0"/>
              </a:rPr>
              <a:t>2</a:t>
            </a:r>
            <a:r>
              <a:rPr lang="ru-RU" b="0" dirty="0"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function first() {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</a:t>
            </a:r>
            <a:r>
              <a:rPr lang="ru-RU" b="0" dirty="0">
                <a:effectLst/>
                <a:latin typeface="Consolas" panose="020B0609020204030204" pitchFamily="49" charset="0"/>
              </a:rPr>
              <a:t>	</a:t>
            </a:r>
            <a:r>
              <a:rPr lang="en-US" b="0" dirty="0">
                <a:effectLst/>
                <a:latin typeface="Consolas" panose="020B0609020204030204" pitchFamily="49" charset="0"/>
              </a:rPr>
              <a:t>second();</a:t>
            </a:r>
            <a:endParaRPr lang="ru-RU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effectLst/>
                <a:latin typeface="Consolas" panose="020B0609020204030204" pitchFamily="49" charset="0"/>
              </a:rPr>
              <a:t>	</a:t>
            </a:r>
            <a:r>
              <a:rPr lang="en-US" b="0" dirty="0">
                <a:effectLst/>
                <a:latin typeface="Consolas" panose="020B0609020204030204" pitchFamily="49" charset="0"/>
              </a:rPr>
              <a:t>console.log(</a:t>
            </a:r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ru-RU" b="0" dirty="0"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first();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6A9268-46F5-4E44-9EA8-D35C7FCD4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075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FACCB-FDA1-44B6-A337-D2F0A3CE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WebAPI</a:t>
            </a:r>
            <a:r>
              <a:rPr lang="en-US" dirty="0"/>
              <a:t> </a:t>
            </a:r>
            <a:r>
              <a:rPr lang="ru-RU" dirty="0"/>
              <a:t>и две очереди задач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844A6B-FFDC-4917-9AF6-6466D9F67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4965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Async </a:t>
            </a:r>
            <a:r>
              <a:rPr lang="en-US" dirty="0" err="1"/>
              <a:t>WebAPI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setTimeout</a:t>
            </a:r>
            <a:r>
              <a:rPr lang="en-US" dirty="0"/>
              <a:t>(</a:t>
            </a:r>
            <a:r>
              <a:rPr lang="en-US" dirty="0" err="1"/>
              <a:t>fn</a:t>
            </a:r>
            <a:r>
              <a:rPr lang="en-US" dirty="0"/>
              <a:t>, 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setInterval</a:t>
            </a:r>
            <a:r>
              <a:rPr lang="en-US" dirty="0"/>
              <a:t>(</a:t>
            </a:r>
            <a:r>
              <a:rPr lang="en-US" dirty="0" err="1"/>
              <a:t>fn</a:t>
            </a:r>
            <a:r>
              <a:rPr lang="en-US" dirty="0"/>
              <a:t>, 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Users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Promise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queueMicrotask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MutationObserver</a:t>
            </a:r>
            <a:endParaRPr lang="en-US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447BCE79-75A3-4B3D-A500-8FFE0850D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104743"/>
              </p:ext>
            </p:extLst>
          </p:nvPr>
        </p:nvGraphicFramePr>
        <p:xfrm>
          <a:off x="4260851" y="3445034"/>
          <a:ext cx="770889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9633">
                  <a:extLst>
                    <a:ext uri="{9D8B030D-6E8A-4147-A177-3AD203B41FA5}">
                      <a16:colId xmlns:a16="http://schemas.microsoft.com/office/drawing/2014/main" val="938412146"/>
                    </a:ext>
                  </a:extLst>
                </a:gridCol>
                <a:gridCol w="2569633">
                  <a:extLst>
                    <a:ext uri="{9D8B030D-6E8A-4147-A177-3AD203B41FA5}">
                      <a16:colId xmlns:a16="http://schemas.microsoft.com/office/drawing/2014/main" val="4201601246"/>
                    </a:ext>
                  </a:extLst>
                </a:gridCol>
                <a:gridCol w="2569633">
                  <a:extLst>
                    <a:ext uri="{9D8B030D-6E8A-4147-A177-3AD203B41FA5}">
                      <a16:colId xmlns:a16="http://schemas.microsoft.com/office/drawing/2014/main" val="3905450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Очередь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Что входит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Приоретет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148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Macrotasks</a:t>
                      </a:r>
                      <a:r>
                        <a:rPr lang="en-US" dirty="0"/>
                        <a:t> queue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Обычный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326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Microtasks queue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  <a:r>
                        <a:rPr lang="en-US" dirty="0"/>
                        <a:t>-7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527787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445118-3171-41EA-AED8-A0A01B18C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414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9C6DA-C976-421E-94E6-DFE0DC8B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Классека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0A7F14-DDFA-4A5A-B52D-8EE192CBC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console.log('1 — </a:t>
            </a:r>
            <a:r>
              <a:rPr lang="ru-RU" b="0" dirty="0">
                <a:effectLst/>
                <a:latin typeface="Consolas" panose="020B0609020204030204" pitchFamily="49" charset="0"/>
              </a:rPr>
              <a:t>старт');</a:t>
            </a:r>
          </a:p>
          <a:p>
            <a:pPr marL="0" indent="0">
              <a:buNone/>
            </a:pPr>
            <a:br>
              <a:rPr lang="ru-RU" b="0" dirty="0">
                <a:effectLst/>
                <a:latin typeface="Consolas" panose="020B0609020204030204" pitchFamily="49" charset="0"/>
              </a:rPr>
            </a:br>
            <a:r>
              <a:rPr lang="en-US" b="0" dirty="0" err="1">
                <a:effectLst/>
                <a:latin typeface="Consolas" panose="020B0609020204030204" pitchFamily="49" charset="0"/>
              </a:rPr>
              <a:t>setTimeout</a:t>
            </a:r>
            <a:r>
              <a:rPr lang="en-US" b="0" dirty="0">
                <a:effectLst/>
                <a:latin typeface="Consolas" panose="020B0609020204030204" pitchFamily="49" charset="0"/>
              </a:rPr>
              <a:t>(() =&gt; {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console.log('2 —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setTimeout</a:t>
            </a:r>
            <a:r>
              <a:rPr lang="en-US" b="0" dirty="0">
                <a:effectLst/>
                <a:latin typeface="Consolas" panose="020B0609020204030204" pitchFamily="49" charset="0"/>
              </a:rPr>
              <a:t>');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}, 0);</a:t>
            </a:r>
          </a:p>
          <a:p>
            <a:pPr marL="0" indent="0"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 err="1">
                <a:effectLst/>
                <a:latin typeface="Consolas" panose="020B0609020204030204" pitchFamily="49" charset="0"/>
              </a:rPr>
              <a:t>Promise.resolve</a:t>
            </a:r>
            <a:r>
              <a:rPr lang="en-US" b="0" dirty="0">
                <a:effectLst/>
                <a:latin typeface="Consolas" panose="020B0609020204030204" pitchFamily="49" charset="0"/>
              </a:rPr>
              <a:t>().then(() =&gt; {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console.log('3 — </a:t>
            </a:r>
            <a:r>
              <a:rPr lang="ru-RU" b="0" dirty="0" err="1">
                <a:effectLst/>
                <a:latin typeface="Consolas" panose="020B0609020204030204" pitchFamily="49" charset="0"/>
              </a:rPr>
              <a:t>промис</a:t>
            </a:r>
            <a:r>
              <a:rPr lang="ru-RU" b="0" dirty="0">
                <a:effectLst/>
                <a:latin typeface="Consolas" panose="020B0609020204030204" pitchFamily="49" charset="0"/>
              </a:rPr>
              <a:t>');</a:t>
            </a:r>
          </a:p>
          <a:p>
            <a:pPr marL="0" indent="0">
              <a:buNone/>
            </a:pPr>
            <a:r>
              <a:rPr lang="ru-RU" b="0" dirty="0"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br>
              <a:rPr lang="ru-RU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console.log('4 — </a:t>
            </a:r>
            <a:r>
              <a:rPr lang="ru-RU" b="0" dirty="0">
                <a:effectLst/>
                <a:latin typeface="Consolas" panose="020B0609020204030204" pitchFamily="49" charset="0"/>
              </a:rPr>
              <a:t>финиш');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8A966C-C347-44B3-A4C1-495ED1F4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781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21E03E-D840-4136-B676-1B1BD7BE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вывода: «1, 4, 3, 2». Почему?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929B4F-80E1-4A7F-A777-48E1632C4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`console.log('1 — старт')` выполняется синхронно.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`</a:t>
            </a:r>
            <a:r>
              <a:rPr lang="ru-RU" dirty="0" err="1"/>
              <a:t>setTimeout</a:t>
            </a:r>
            <a:r>
              <a:rPr lang="ru-RU" dirty="0"/>
              <a:t>` регистрирует таймер в Web </a:t>
            </a:r>
            <a:r>
              <a:rPr lang="ru-RU" dirty="0" err="1"/>
              <a:t>APIs</a:t>
            </a:r>
            <a:r>
              <a:rPr lang="ru-RU" dirty="0"/>
              <a:t> и продолжает работу (задержка 0 </a:t>
            </a:r>
            <a:r>
              <a:rPr lang="ru-RU" dirty="0" err="1"/>
              <a:t>мс</a:t>
            </a:r>
            <a:r>
              <a:rPr lang="ru-RU" dirty="0"/>
              <a:t> не означает «немедленно» — означает «как только дойдёт очередь </a:t>
            </a:r>
            <a:r>
              <a:rPr lang="ru-RU" dirty="0" err="1"/>
              <a:t>макрозадач</a:t>
            </a:r>
            <a:r>
              <a:rPr lang="ru-RU" dirty="0"/>
              <a:t>»).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`.</a:t>
            </a:r>
            <a:r>
              <a:rPr lang="ru-RU" dirty="0" err="1"/>
              <a:t>then</a:t>
            </a:r>
            <a:r>
              <a:rPr lang="ru-RU" dirty="0"/>
              <a:t>` </a:t>
            </a:r>
            <a:r>
              <a:rPr lang="ru-RU" dirty="0" err="1"/>
              <a:t>промиса</a:t>
            </a:r>
            <a:r>
              <a:rPr lang="ru-RU" dirty="0"/>
              <a:t> ставит </a:t>
            </a:r>
            <a:r>
              <a:rPr lang="ru-RU" dirty="0" err="1"/>
              <a:t>колбэк</a:t>
            </a:r>
            <a:r>
              <a:rPr lang="ru-RU" dirty="0"/>
              <a:t> в очередь «</a:t>
            </a:r>
            <a:r>
              <a:rPr lang="ru-RU" dirty="0" err="1"/>
              <a:t>микрозадач</a:t>
            </a:r>
            <a:r>
              <a:rPr lang="ru-RU" dirty="0"/>
              <a:t>».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`console.log('4 — финиш')` выполняется синхронно.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Стек пуст. Цикл событий сначала полностью разбирает очередь </a:t>
            </a:r>
            <a:r>
              <a:rPr lang="ru-RU" dirty="0" err="1"/>
              <a:t>микрозадач</a:t>
            </a:r>
            <a:r>
              <a:rPr lang="ru-RU" dirty="0"/>
              <a:t> → печатается «3».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Затем берётся одна </a:t>
            </a:r>
            <a:r>
              <a:rPr lang="ru-RU" dirty="0" err="1"/>
              <a:t>макрозадача</a:t>
            </a:r>
            <a:r>
              <a:rPr lang="ru-RU" dirty="0"/>
              <a:t> → печатается «2».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1EDFBA-42CE-4FCB-8291-80F80E06E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931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F1B274-915D-46FE-92AC-9BF5F1C2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Loop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A3FED4-B15B-4981-8CDA-3FFDF2446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Цикл событий</a:t>
            </a:r>
            <a:r>
              <a:rPr lang="en-US" dirty="0"/>
              <a:t> </a:t>
            </a:r>
            <a:r>
              <a:rPr lang="ru-RU" dirty="0"/>
              <a:t>— это диспетчер, который бесконечно повторяет простой алгоритм:</a:t>
            </a:r>
          </a:p>
          <a:p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Выполнить все синхронные задачи.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Выполнить все </a:t>
            </a:r>
            <a:r>
              <a:rPr lang="ru-RU" dirty="0" err="1"/>
              <a:t>микрозадачи</a:t>
            </a:r>
            <a:r>
              <a:rPr lang="ru-RU" dirty="0"/>
              <a:t>, накопившиеся в очереди (включая те, что появились в процессе выполнения других </a:t>
            </a:r>
            <a:r>
              <a:rPr lang="ru-RU" dirty="0" err="1"/>
              <a:t>микрозадач</a:t>
            </a:r>
            <a:r>
              <a:rPr lang="ru-RU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Если очередь </a:t>
            </a:r>
            <a:r>
              <a:rPr lang="ru-RU" dirty="0" err="1"/>
              <a:t>макрозадач</a:t>
            </a:r>
            <a:r>
              <a:rPr lang="ru-RU" dirty="0"/>
              <a:t> не пуста — взять одну </a:t>
            </a:r>
            <a:r>
              <a:rPr lang="ru-RU" dirty="0" err="1"/>
              <a:t>макрозадачу</a:t>
            </a:r>
            <a:r>
              <a:rPr lang="ru-RU" dirty="0"/>
              <a:t> и выполнить её.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Вернуться к шагу 1 (в браузере на этом же шаге при необходимости происходит отрисовка).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305D6C-E2F3-4AE8-8B74-D0CC1566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934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0D103F-67FA-4FF0-894C-B80E21F9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Подводные камни для </a:t>
            </a:r>
            <a:r>
              <a:rPr lang="en-US" dirty="0"/>
              <a:t>UI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7DFEFB-46CA-417A-8880-D0F9017FA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«Голодание </a:t>
            </a:r>
            <a:r>
              <a:rPr lang="ru-RU" dirty="0" err="1"/>
              <a:t>макрозадачи</a:t>
            </a:r>
            <a:r>
              <a:rPr lang="ru-RU" dirty="0"/>
              <a:t>». Если </a:t>
            </a:r>
            <a:r>
              <a:rPr lang="ru-RU" dirty="0" err="1"/>
              <a:t>микрозадачи</a:t>
            </a:r>
            <a:r>
              <a:rPr lang="ru-RU" dirty="0"/>
              <a:t> постоянно порождают новые </a:t>
            </a:r>
            <a:r>
              <a:rPr lang="ru-RU" dirty="0" err="1"/>
              <a:t>микрозадачи</a:t>
            </a:r>
            <a:r>
              <a:rPr lang="ru-RU" dirty="0"/>
              <a:t>, то очередь </a:t>
            </a:r>
            <a:r>
              <a:rPr lang="ru-RU" dirty="0" err="1"/>
              <a:t>макрозадач</a:t>
            </a:r>
            <a:r>
              <a:rPr lang="ru-RU" dirty="0"/>
              <a:t> и отрисовка не получат управления никогда. UI замрёт.</a:t>
            </a:r>
          </a:p>
          <a:p>
            <a:r>
              <a:rPr lang="ru-RU" dirty="0"/>
              <a:t>«Таймеры — не точные часы». </a:t>
            </a:r>
            <a:r>
              <a:rPr lang="ru-RU" dirty="0" err="1"/>
              <a:t>setInterval</a:t>
            </a:r>
            <a:r>
              <a:rPr lang="ru-RU" dirty="0"/>
              <a:t>(</a:t>
            </a:r>
            <a:r>
              <a:rPr lang="ru-RU" dirty="0" err="1"/>
              <a:t>fn</a:t>
            </a:r>
            <a:r>
              <a:rPr lang="ru-RU" dirty="0"/>
              <a:t>, 100) обещает «не чаще, чем раз в 100 </a:t>
            </a:r>
            <a:r>
              <a:rPr lang="ru-RU" dirty="0" err="1"/>
              <a:t>мс</a:t>
            </a:r>
            <a:r>
              <a:rPr lang="ru-RU" dirty="0"/>
              <a:t>», но если поток занят, интервалы растянутся.</a:t>
            </a:r>
          </a:p>
          <a:p>
            <a:r>
              <a:rPr lang="ru-RU" dirty="0"/>
              <a:t>«Порядок важнее задержки». Задача с большей задержкой может выполниться раньше, если попала в очередь </a:t>
            </a:r>
            <a:r>
              <a:rPr lang="ru-RU" dirty="0" err="1"/>
              <a:t>микрозадач</a:t>
            </a:r>
            <a:r>
              <a:rPr lang="ru-RU" dirty="0"/>
              <a:t>, а конкурент — в </a:t>
            </a:r>
            <a:r>
              <a:rPr lang="ru-RU" dirty="0" err="1"/>
              <a:t>макрозадачи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DF7A05-273A-4CF4-AEE9-1A5B7062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843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7FA58-9D42-4ADC-8906-2AAB8994E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Promise</a:t>
            </a:r>
            <a:r>
              <a:rPr lang="ru-RU" dirty="0"/>
              <a:t> – </a:t>
            </a:r>
            <a:r>
              <a:rPr lang="ru-RU" dirty="0" err="1"/>
              <a:t>промис</a:t>
            </a:r>
            <a:r>
              <a:rPr lang="ru-RU" dirty="0"/>
              <a:t> – «обещание»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64FFDC-F389-4DE8-BBEC-B19F937C1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			</a:t>
            </a:r>
            <a:r>
              <a:rPr lang="en-US" dirty="0"/>
              <a:t>pending (</a:t>
            </a:r>
            <a:r>
              <a:rPr lang="ru-RU" dirty="0"/>
              <a:t>ожидание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fulfilled (</a:t>
            </a:r>
            <a:r>
              <a:rPr lang="ru-RU" dirty="0"/>
              <a:t>выполнен успешно)		</a:t>
            </a:r>
            <a:r>
              <a:rPr lang="en-US" dirty="0"/>
              <a:t>rejected (</a:t>
            </a:r>
            <a:r>
              <a:rPr lang="ru-RU" dirty="0"/>
              <a:t>отклонён)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.then(</a:t>
            </a:r>
            <a:r>
              <a:rPr lang="en-US" dirty="0" err="1"/>
              <a:t>successful_callback</a:t>
            </a:r>
            <a:r>
              <a:rPr lang="en-US" dirty="0"/>
              <a:t>)                      .catch(</a:t>
            </a:r>
            <a:r>
              <a:rPr lang="en-US" dirty="0" err="1"/>
              <a:t>failulre_callback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.finally(</a:t>
            </a:r>
            <a:r>
              <a:rPr lang="en-US" dirty="0" err="1"/>
              <a:t>in_the_end_callback</a:t>
            </a:r>
            <a:r>
              <a:rPr lang="en-US" dirty="0"/>
              <a:t>)</a:t>
            </a:r>
            <a:endParaRPr lang="ru-RU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85950B7B-3064-4C44-BB7B-179D8D162239}"/>
              </a:ext>
            </a:extLst>
          </p:cNvPr>
          <p:cNvCxnSpPr/>
          <p:nvPr/>
        </p:nvCxnSpPr>
        <p:spPr>
          <a:xfrm flipH="1">
            <a:off x="3117850" y="2190750"/>
            <a:ext cx="1098550" cy="730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BDD3D0FA-19D3-4DA2-864B-244AB66ADF41}"/>
              </a:ext>
            </a:extLst>
          </p:cNvPr>
          <p:cNvCxnSpPr/>
          <p:nvPr/>
        </p:nvCxnSpPr>
        <p:spPr>
          <a:xfrm>
            <a:off x="6457950" y="2260600"/>
            <a:ext cx="1066800" cy="660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8A17136B-5700-4AA0-A3E0-72AFE20B56B8}"/>
              </a:ext>
            </a:extLst>
          </p:cNvPr>
          <p:cNvCxnSpPr/>
          <p:nvPr/>
        </p:nvCxnSpPr>
        <p:spPr>
          <a:xfrm>
            <a:off x="2698750" y="3219450"/>
            <a:ext cx="0" cy="755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226003F-BA09-4897-9A77-25875E3AF4C9}"/>
              </a:ext>
            </a:extLst>
          </p:cNvPr>
          <p:cNvCxnSpPr/>
          <p:nvPr/>
        </p:nvCxnSpPr>
        <p:spPr>
          <a:xfrm>
            <a:off x="7715250" y="3282950"/>
            <a:ext cx="0" cy="63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8BAD6EB-00A3-4D46-AB7A-313AF16591FA}"/>
              </a:ext>
            </a:extLst>
          </p:cNvPr>
          <p:cNvCxnSpPr/>
          <p:nvPr/>
        </p:nvCxnSpPr>
        <p:spPr>
          <a:xfrm>
            <a:off x="3511550" y="4330700"/>
            <a:ext cx="1244600" cy="546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FBC2986-D4FB-480A-8C31-40D5C062044A}"/>
              </a:ext>
            </a:extLst>
          </p:cNvPr>
          <p:cNvCxnSpPr/>
          <p:nvPr/>
        </p:nvCxnSpPr>
        <p:spPr>
          <a:xfrm flipH="1">
            <a:off x="6946900" y="4286250"/>
            <a:ext cx="819150" cy="641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986C9AB3-D867-459B-8E0D-E5C8FB19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061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50CF6-5001-48B6-A9A3-BFD526D3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Цепочки </a:t>
            </a:r>
            <a:r>
              <a:rPr lang="ru-RU" dirty="0" err="1"/>
              <a:t>промисов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168053-397C-45A9-8CB7-FCE4071BF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0786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Каждый .</a:t>
            </a:r>
            <a:r>
              <a:rPr lang="ru-RU" dirty="0" err="1"/>
              <a:t>then</a:t>
            </a:r>
            <a:r>
              <a:rPr lang="ru-RU" dirty="0"/>
              <a:t> возвращает новый </a:t>
            </a:r>
            <a:r>
              <a:rPr lang="ru-RU" dirty="0" err="1"/>
              <a:t>промис</a:t>
            </a:r>
            <a:r>
              <a:rPr lang="ru-RU" dirty="0"/>
              <a:t>, поэтому вызовы выстраиваются в цепочку: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F845B-9909-4559-8101-0944550E2C27}"/>
              </a:ext>
            </a:extLst>
          </p:cNvPr>
          <p:cNvSpPr txBox="1"/>
          <p:nvPr/>
        </p:nvSpPr>
        <p:spPr>
          <a:xfrm>
            <a:off x="4546060" y="1695248"/>
            <a:ext cx="778290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dirty="0">
                <a:effectLst/>
                <a:latin typeface="Consolas" panose="020B0609020204030204" pitchFamily="49" charset="0"/>
              </a:rPr>
              <a:t>('/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api</a:t>
            </a:r>
            <a:r>
              <a:rPr lang="en-US" b="0" dirty="0">
                <a:effectLst/>
                <a:latin typeface="Consolas" panose="020B0609020204030204" pitchFamily="49" charset="0"/>
              </a:rPr>
              <a:t>/user/1')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.then</a:t>
            </a:r>
            <a:r>
              <a:rPr lang="en-US" b="0" dirty="0">
                <a:effectLst/>
                <a:latin typeface="Consolas" panose="020B0609020204030204" pitchFamily="49" charset="0"/>
              </a:rPr>
              <a:t>((response) =&gt;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response.json</a:t>
            </a:r>
            <a:r>
              <a:rPr lang="en-US" b="0" dirty="0">
                <a:effectLst/>
                <a:latin typeface="Consolas" panose="020B0609020204030204" pitchFamily="49" charset="0"/>
              </a:rPr>
              <a:t>())</a:t>
            </a:r>
            <a:endParaRPr lang="ru-RU" b="0" dirty="0"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effectLst/>
                <a:latin typeface="Consolas" panose="020B0609020204030204" pitchFamily="49" charset="0"/>
              </a:rPr>
              <a:t>  </a:t>
            </a:r>
            <a:r>
              <a:rPr lang="ru-RU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b="0" dirty="0">
                <a:effectLst/>
                <a:latin typeface="Consolas" panose="020B0609020204030204" pitchFamily="49" charset="0"/>
              </a:rPr>
              <a:t>((user) =&gt; 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dirty="0">
                <a:effectLst/>
                <a:latin typeface="Consolas" panose="020B0609020204030204" pitchFamily="49" charset="0"/>
              </a:rPr>
              <a:t>(`/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api</a:t>
            </a:r>
            <a:r>
              <a:rPr lang="en-US" b="0" dirty="0">
                <a:effectLst/>
                <a:latin typeface="Consolas" panose="020B0609020204030204" pitchFamily="49" charset="0"/>
              </a:rPr>
              <a:t>/projects/${user.id}`))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.then</a:t>
            </a:r>
            <a:r>
              <a:rPr lang="en-US" b="0" dirty="0">
                <a:effectLst/>
                <a:latin typeface="Consolas" panose="020B0609020204030204" pitchFamily="49" charset="0"/>
              </a:rPr>
              <a:t>((response) =&gt;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response.json</a:t>
            </a:r>
            <a:r>
              <a:rPr lang="en-US" b="0" dirty="0"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.then</a:t>
            </a:r>
            <a:r>
              <a:rPr lang="en-US" b="0" dirty="0">
                <a:effectLst/>
                <a:latin typeface="Consolas" panose="020B0609020204030204" pitchFamily="49" charset="0"/>
              </a:rPr>
              <a:t>((projects) =&gt; {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console.log(`</a:t>
            </a:r>
            <a:r>
              <a:rPr lang="ru-RU" b="0" dirty="0">
                <a:effectLst/>
                <a:latin typeface="Consolas" panose="020B0609020204030204" pitchFamily="49" charset="0"/>
              </a:rPr>
              <a:t>Проекты пользователя: ${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projects.length</a:t>
            </a:r>
            <a:r>
              <a:rPr lang="en-US" b="0" dirty="0">
                <a:effectLst/>
                <a:latin typeface="Consolas" panose="020B0609020204030204" pitchFamily="49" charset="0"/>
              </a:rPr>
              <a:t>}`);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})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.catch</a:t>
            </a:r>
            <a:r>
              <a:rPr lang="en-US" b="0" dirty="0">
                <a:effectLst/>
                <a:latin typeface="Consolas" panose="020B0609020204030204" pitchFamily="49" charset="0"/>
              </a:rPr>
              <a:t>((error) =&gt; {</a:t>
            </a:r>
          </a:p>
          <a:p>
            <a:r>
              <a:rPr lang="ru-RU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console.error</a:t>
            </a:r>
            <a:r>
              <a:rPr lang="en-US" b="0" dirty="0">
                <a:effectLst/>
                <a:latin typeface="Consolas" panose="020B0609020204030204" pitchFamily="49" charset="0"/>
              </a:rPr>
              <a:t>('</a:t>
            </a:r>
            <a:r>
              <a:rPr lang="ru-RU" b="0" dirty="0">
                <a:effectLst/>
                <a:latin typeface="Consolas" panose="020B0609020204030204" pitchFamily="49" charset="0"/>
              </a:rPr>
              <a:t>Что-то пошло не так:', </a:t>
            </a:r>
            <a:r>
              <a:rPr lang="en-US" b="0" dirty="0">
                <a:effectLst/>
                <a:latin typeface="Consolas" panose="020B0609020204030204" pitchFamily="49" charset="0"/>
              </a:rPr>
              <a:t>error);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})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.finally</a:t>
            </a:r>
            <a:r>
              <a:rPr lang="en-US" b="0" dirty="0">
                <a:effectLst/>
                <a:latin typeface="Consolas" panose="020B0609020204030204" pitchFamily="49" charset="0"/>
              </a:rPr>
              <a:t>(() =&gt; {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hideSpinner</a:t>
            </a:r>
            <a:r>
              <a:rPr lang="en-US" b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ru-RU" b="0" dirty="0">
                <a:effectLst/>
                <a:latin typeface="Consolas" panose="020B0609020204030204" pitchFamily="49" charset="0"/>
              </a:rPr>
              <a:t>});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B998568-353C-499B-8C18-6A0A62E2D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3183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6A106-2F36-410D-9C01-9E7A45741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async</a:t>
            </a:r>
            <a:r>
              <a:rPr lang="ru-RU" dirty="0"/>
              <a:t>/</a:t>
            </a:r>
            <a:r>
              <a:rPr lang="ru-RU" dirty="0" err="1"/>
              <a:t>await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C6479E-DB3B-4DC1-8269-DA71165F6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ES2017 </a:t>
            </a:r>
            <a:r>
              <a:rPr lang="ru-RU" dirty="0"/>
              <a:t>добавил синтаксический сахар над </a:t>
            </a:r>
            <a:r>
              <a:rPr lang="ru-RU" dirty="0" err="1"/>
              <a:t>промисами</a:t>
            </a:r>
            <a:r>
              <a:rPr lang="ru-RU" dirty="0"/>
              <a:t>, который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dirty="0"/>
              <a:t>позволяет писать асинхронный код, визуально похожий на синхронный. Правила использования: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Функция с ключевым словом </a:t>
            </a:r>
            <a:r>
              <a:rPr lang="ru-RU" dirty="0" err="1">
                <a:solidFill>
                  <a:srgbClr val="C00000"/>
                </a:solidFill>
              </a:rPr>
              <a:t>async</a:t>
            </a:r>
            <a:r>
              <a:rPr lang="ru-RU" dirty="0"/>
              <a:t> всегда возвращает </a:t>
            </a:r>
            <a:r>
              <a:rPr lang="ru-RU" dirty="0" err="1"/>
              <a:t>Promise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 err="1">
                <a:solidFill>
                  <a:srgbClr val="C00000"/>
                </a:solidFill>
              </a:rPr>
              <a:t>await</a:t>
            </a:r>
            <a:r>
              <a:rPr lang="ru-RU" dirty="0"/>
              <a:t> внутри такой функции приостанавливает её выполнение до результата </a:t>
            </a:r>
            <a:r>
              <a:rPr lang="ru-RU" dirty="0" err="1"/>
              <a:t>промиса</a:t>
            </a:r>
            <a:r>
              <a:rPr lang="ru-RU" dirty="0"/>
              <a:t>. Главный поток при этом не блокируется — остальные задачи исполняются.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Отклонённый </a:t>
            </a:r>
            <a:r>
              <a:rPr lang="ru-RU" dirty="0" err="1"/>
              <a:t>промис</a:t>
            </a:r>
            <a:r>
              <a:rPr lang="ru-RU" dirty="0"/>
              <a:t> в </a:t>
            </a:r>
            <a:r>
              <a:rPr lang="ru-RU" dirty="0" err="1">
                <a:solidFill>
                  <a:srgbClr val="C00000"/>
                </a:solidFill>
              </a:rPr>
              <a:t>await</a:t>
            </a:r>
            <a:r>
              <a:rPr lang="ru-RU" dirty="0"/>
              <a:t> бросает ошибку — её можно поймать обычным </a:t>
            </a:r>
            <a:r>
              <a:rPr lang="ru-RU" dirty="0" err="1">
                <a:solidFill>
                  <a:srgbClr val="C00000"/>
                </a:solidFill>
              </a:rPr>
              <a:t>try</a:t>
            </a:r>
            <a:r>
              <a:rPr lang="ru-RU" dirty="0">
                <a:solidFill>
                  <a:srgbClr val="C00000"/>
                </a:solidFill>
              </a:rPr>
              <a:t>/</a:t>
            </a:r>
            <a:r>
              <a:rPr lang="ru-RU" dirty="0" err="1">
                <a:solidFill>
                  <a:srgbClr val="C00000"/>
                </a:solidFill>
              </a:rPr>
              <a:t>catch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378B09-A960-4F13-94F5-4B2DE339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555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3853C64-CD30-450E-A2EE-86AB0E389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250"/>
            <a:ext cx="10515600" cy="5954713"/>
          </a:xfrm>
          <a:solidFill>
            <a:schemeClr val="bg2">
              <a:lumMod val="10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ru-RU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loadUserProjects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/user/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projectsResponse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                        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/projects/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projectsResponse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Что-то пошло не так:'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hideSpinner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13BE81-25FF-4A04-823C-27A59A83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901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38A8F-F1B3-47A7-BFAB-6EECF3FD4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Стоит отметить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8D7634-DA06-49A5-BE33-EAD04C1D8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await</a:t>
            </a:r>
            <a:r>
              <a:rPr lang="ru-RU" dirty="0"/>
              <a:t> работает только внутри </a:t>
            </a:r>
            <a:r>
              <a:rPr lang="ru-RU" dirty="0" err="1"/>
              <a:t>async</a:t>
            </a:r>
            <a:r>
              <a:rPr lang="ru-RU" dirty="0"/>
              <a:t>-функций (и на верхнем уровне ES-модулей — </a:t>
            </a:r>
            <a:r>
              <a:rPr lang="ru-RU" dirty="0" err="1"/>
              <a:t>top-level</a:t>
            </a:r>
            <a:r>
              <a:rPr lang="ru-RU" dirty="0"/>
              <a:t> </a:t>
            </a:r>
            <a:r>
              <a:rPr lang="ru-RU" dirty="0" err="1"/>
              <a:t>await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dirty="0"/>
              <a:t>Каждый </a:t>
            </a:r>
            <a:r>
              <a:rPr lang="ru-RU" dirty="0" err="1"/>
              <a:t>await</a:t>
            </a:r>
            <a:r>
              <a:rPr lang="ru-RU" dirty="0"/>
              <a:t> в цепочке выполняется «последовательно». Если запросы независимы — последовательные `</a:t>
            </a:r>
            <a:r>
              <a:rPr lang="ru-RU" dirty="0" err="1"/>
              <a:t>await</a:t>
            </a:r>
            <a:r>
              <a:rPr lang="ru-RU" dirty="0"/>
              <a:t>` зря ждут друг друга (см. следующий раздел).</a:t>
            </a:r>
          </a:p>
          <a:p>
            <a:endParaRPr lang="ru-RU" dirty="0"/>
          </a:p>
          <a:p>
            <a:r>
              <a:rPr lang="ru-RU" dirty="0" err="1"/>
              <a:t>async</a:t>
            </a:r>
            <a:r>
              <a:rPr lang="ru-RU" dirty="0"/>
              <a:t>-функция начинает выполняться синхронно до первого </a:t>
            </a:r>
            <a:r>
              <a:rPr lang="ru-RU" dirty="0" err="1"/>
              <a:t>await</a:t>
            </a:r>
            <a:r>
              <a:rPr lang="ru-RU" dirty="0"/>
              <a:t> — это иногда важно для порядка событий.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5589F4-1FB9-4A5B-8506-97F664F6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858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3572C5-D287-466C-B212-4BE643D51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 конкурентного выполнения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FDC555-F001-467C-A0D6-5BA5222BE9E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1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loadDashboardSequential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fetchProjects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ru-RU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fetchTasks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notifications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ru-RU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fetchNotifications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ru-RU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D4D4D4"/>
                </a:solidFill>
                <a:latin typeface="Consolas" panose="020B0609020204030204" pitchFamily="49" charset="0"/>
              </a:rPr>
              <a:t>		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D4D4D4"/>
                </a:solidFill>
                <a:latin typeface="Consolas" panose="020B0609020204030204" pitchFamily="49" charset="0"/>
              </a:rPr>
              <a:t>		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D4D4D4"/>
                </a:solidFill>
                <a:latin typeface="Consolas" panose="020B0609020204030204" pitchFamily="49" charset="0"/>
              </a:rPr>
              <a:t>		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notifications</a:t>
            </a:r>
            <a:endParaRPr lang="ru-RU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76417C-AA84-4F7D-B91C-01756862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050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12EE18-160D-4F41-82AE-CE660E015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Этот код работает быстрее. Почему?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5B1FA9-3946-44CC-BF04-9236A3998BC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1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loadDashboard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notifications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fetchProjects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fetchTasks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fetchNotifications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notifications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};</a:t>
            </a:r>
            <a:endParaRPr lang="ru-RU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4331C6-3A03-47D0-BE8D-CE68CCF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436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E7578-5F70-466A-8B69-18650534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ru-RU" dirty="0" err="1"/>
              <a:t>татические</a:t>
            </a:r>
            <a:r>
              <a:rPr lang="ru-RU" dirty="0"/>
              <a:t> методы </a:t>
            </a:r>
            <a:r>
              <a:rPr lang="en-US" dirty="0"/>
              <a:t>Promise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CE6589EF-A183-4136-B414-C65A5493D4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6844555"/>
              </p:ext>
            </p:extLst>
          </p:nvPr>
        </p:nvGraphicFramePr>
        <p:xfrm>
          <a:off x="838200" y="1825625"/>
          <a:ext cx="10515600" cy="3205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597315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139824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557482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71563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Ждёт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Поведение при ошибке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781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Promise.all</a:t>
                      </a:r>
                      <a:r>
                        <a:rPr lang="en-US" dirty="0"/>
                        <a:t>([…])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Успех всех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Массив результатов в исходном порядке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throw </a:t>
                      </a:r>
                      <a:r>
                        <a:rPr lang="ru-RU" dirty="0"/>
                        <a:t>при первой ошибке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733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Promise.allSettled</a:t>
                      </a:r>
                      <a:r>
                        <a:rPr lang="en-US" dirty="0"/>
                        <a:t>([...])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Завершение всех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массив `{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status, value/reason }`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Никогда не отклоняется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777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Promise.race</a:t>
                      </a:r>
                      <a:r>
                        <a:rPr lang="en-US" dirty="0"/>
                        <a:t>([...])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Первый любой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Значение/ошибка первого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Зависит от первого завершившегося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746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Promise.any</a:t>
                      </a:r>
                      <a:r>
                        <a:rPr lang="en-US" dirty="0"/>
                        <a:t>([...])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Первый успех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 первого успешного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AggregateError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`, если успеха не было ни у кого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772248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97EC74-6360-465E-815A-471AACDC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603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FADAE-BF71-4196-882F-30EE94F1C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ресурсов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C3D3B-F42B-4F89-83A8-8326C3444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Асинхронность</a:t>
            </a:r>
            <a:r>
              <a:rPr lang="en-US" dirty="0"/>
              <a:t> (</a:t>
            </a:r>
            <a:r>
              <a:rPr lang="en-US" dirty="0" err="1"/>
              <a:t>Григорий</a:t>
            </a:r>
            <a:r>
              <a:rPr lang="en-US" dirty="0"/>
              <a:t> </a:t>
            </a:r>
            <a:r>
              <a:rPr lang="en-US" dirty="0" err="1"/>
              <a:t>Бизюкин</a:t>
            </a:r>
            <a:r>
              <a:rPr lang="en-US" dirty="0"/>
              <a:t>) - https://www.youtube.com/watch?v=XFn-nC-YZg8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https://nshuklin</a:t>
            </a:r>
            <a:r>
              <a:rPr lang="en-US" dirty="0"/>
              <a:t>.github.io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5C115C-C12D-453B-97F0-81C76AB6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9995C-8B95-4540-85BD-4D1B5561E833}" type="slidenum">
              <a:rPr lang="ru-RU" smtClean="0"/>
              <a:t>21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67CE2D4-A74C-4E98-B7B2-1E1B3B463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400" y="2943225"/>
            <a:ext cx="3549650" cy="354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108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1231</Words>
  <Application>Microsoft Office PowerPoint</Application>
  <PresentationFormat>Широкоэкранный</PresentationFormat>
  <Paragraphs>210</Paragraphs>
  <Slides>21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Тема Office</vt:lpstr>
      <vt:lpstr>Что же такое эти ваши «поля»?</vt:lpstr>
      <vt:lpstr>Свойства vs. полей</vt:lpstr>
      <vt:lpstr>JavaScript Object Notification - JSON</vt:lpstr>
      <vt:lpstr>JSON спецификация</vt:lpstr>
      <vt:lpstr>Презентация PowerPoint</vt:lpstr>
      <vt:lpstr>Асинхронность</vt:lpstr>
      <vt:lpstr>Stack - CallStack</vt:lpstr>
      <vt:lpstr>WebAPI и две очереди задач</vt:lpstr>
      <vt:lpstr>Классека</vt:lpstr>
      <vt:lpstr>Порядок вывода: «1, 4, 3, 2». Почему?</vt:lpstr>
      <vt:lpstr>Event Loop</vt:lpstr>
      <vt:lpstr>Подводные камни для UI</vt:lpstr>
      <vt:lpstr>Promise – промис – «обещание»</vt:lpstr>
      <vt:lpstr>Цепочки промисов</vt:lpstr>
      <vt:lpstr>async/await</vt:lpstr>
      <vt:lpstr>Презентация PowerPoint</vt:lpstr>
      <vt:lpstr>Стоит отметить</vt:lpstr>
      <vt:lpstr>Паттерн конкурентного выполнения</vt:lpstr>
      <vt:lpstr>Этот код работает быстрее. Почему?</vt:lpstr>
      <vt:lpstr>Cтатические методы Promise</vt:lpstr>
      <vt:lpstr>Список ресурсов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 же такое эти ваши «поля»?</dc:title>
  <dc:creator>Nikita A. Shuklin</dc:creator>
  <cp:lastModifiedBy>Nikita A. Shuklin</cp:lastModifiedBy>
  <cp:revision>29</cp:revision>
  <dcterms:created xsi:type="dcterms:W3CDTF">2026-09-14T09:56:13Z</dcterms:created>
  <dcterms:modified xsi:type="dcterms:W3CDTF">2026-09-15T02:37:18Z</dcterms:modified>
</cp:coreProperties>
</file>